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h465a7db5e315a14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h465a7db5e315a14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h550de3104059f54e_52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h550de3104059f54e_52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h465a7db5e315a149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h465a7db5e315a149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h465a7db5e315a149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h465a7db5e315a149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h563734d57fc79639_8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h563734d57fc79639_8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h563734d57fc79639_8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h563734d57fc79639_8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h563734d57fc79639_8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h563734d57fc79639_8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h550de3104059f54e_1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h550de3104059f54e_1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h550de3104059f54e_1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h550de3104059f54e_1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h550de3104059f54e_3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h550de3104059f54e_3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h550de3104059f54e_32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h550de3104059f54e_32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h563734d57fc79639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h563734d57fc79639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h465a7db5e315a149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h465a7db5e315a149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h563734d57fc79639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h563734d57fc79639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h563734d57fc79639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h563734d57fc79639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h465a7db5e315a149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h465a7db5e315a149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h563734d57fc79639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h563734d57fc79639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h563734d57fc79639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h563734d57fc79639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h563734d57fc79639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h563734d57fc79639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h563734d57fc79639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h563734d57fc79639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h550de3104059f54e_54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h550de3104059f54e_54_4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h550de3104059f54e_54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h550de3104059f54e_54_5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h550de3104059f54e_54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h550de3104059f54e_54_5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h550de3104059f54e_54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h550de3104059f54e_54_6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h465a7db5e315a149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h465a7db5e315a149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h465a7db5e315a149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h465a7db5e315a149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60" name="Google Shape;60;p1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61" name="Google Shape;61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archive.ics.uci.edu/dataset/320/student+performance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hyperlink" Target="https://archive.ics.uci.edu/dataset/320/student+performance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 txBox="1"/>
          <p:nvPr>
            <p:ph type="ctrTitle"/>
          </p:nvPr>
        </p:nvSpPr>
        <p:spPr>
          <a:xfrm>
            <a:off x="685800" y="1371600"/>
            <a:ext cx="7772400" cy="128016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3600" b="1">
                <a:solidFill>
                  <a:srgbClr val="1F3A5F"/>
                </a:solidFill>
                <a:latin typeface="Calibri"/>
              </a:rPr>
              <a:t>Student </a:t>
            </a:r>
            <a:r>
              <a:rPr lang="en" sz="3600" b="1">
                <a:solidFill>
                  <a:srgbClr val="1F3A5F"/>
                </a:solidFill>
                <a:latin typeface="Calibri"/>
              </a:rPr>
              <a:t>Academic Performance</a:t>
            </a:r>
            <a:endParaRPr sz="3400"/>
          </a:p>
        </p:txBody>
      </p:sp>
      <p:sp>
        <p:nvSpPr>
          <p:cNvPr id="100" name="Google Shape;100;p25"/>
          <p:cNvSpPr txBox="1"/>
          <p:nvPr>
            <p:ph idx="1" type="subTitle"/>
          </p:nvPr>
        </p:nvSpPr>
        <p:spPr>
          <a:xfrm>
            <a:off x="685800" y="2788920"/>
            <a:ext cx="7772400" cy="82296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0">
                <a:solidFill>
                  <a:srgbClr val="5F6670"/>
                </a:solidFill>
                <a:latin typeface="Calibri"/>
              </a:rPr>
              <a:t>Mariam Adekanye, </a:t>
            </a:r>
            <a:r>
              <a:rPr lang="en" sz="1600" b="0">
                <a:solidFill>
                  <a:srgbClr val="5F6670"/>
                </a:solidFill>
                <a:latin typeface="Calibri"/>
              </a:rPr>
              <a:t>Bushra Fatima,</a:t>
            </a:r>
            <a:r>
              <a:rPr lang="en" sz="1600" b="0">
                <a:solidFill>
                  <a:srgbClr val="5F6670"/>
                </a:solidFill>
                <a:latin typeface="Calibri"/>
              </a:rPr>
              <a:t> </a:t>
            </a:r>
            <a:r>
              <a:rPr lang="en" sz="1600" b="0">
                <a:solidFill>
                  <a:srgbClr val="5F6670"/>
                </a:solidFill>
                <a:latin typeface="Calibri"/>
              </a:rPr>
              <a:t>Sagar Gupta, and </a:t>
            </a:r>
            <a:r>
              <a:rPr lang="en" sz="1600" b="0">
                <a:solidFill>
                  <a:srgbClr val="5F6670"/>
                </a:solidFill>
                <a:latin typeface="Calibri"/>
              </a:rPr>
              <a:t>Qahir Ramji</a:t>
            </a:r>
            <a:endParaRPr sz="19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6"/>
          <p:cNvSpPr txBox="1"/>
          <p:nvPr>
            <p:ph type="title"/>
          </p:nvPr>
        </p:nvSpPr>
        <p:spPr>
          <a:xfrm>
            <a:off x="310896" y="274320"/>
            <a:ext cx="8522208" cy="64008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rgbClr val="1F3A5F"/>
                </a:solidFill>
                <a:latin typeface="Calibri"/>
              </a:rPr>
              <a:t>Our Data</a:t>
            </a:r>
            <a:endParaRPr/>
          </a:p>
        </p:txBody>
      </p:sp>
      <p:sp>
        <p:nvSpPr>
          <p:cNvPr id="106" name="Google Shape;106;p26"/>
          <p:cNvSpPr txBox="1"/>
          <p:nvPr>
            <p:ph idx="1" type="body"/>
          </p:nvPr>
        </p:nvSpPr>
        <p:spPr>
          <a:xfrm>
            <a:off x="310896" y="1005840"/>
            <a:ext cx="8522208" cy="361188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3429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3A5F"/>
              </a:buClr>
              <a:buSzPct val="100000"/>
              <a:buFont typeface="Arial"/>
              <a:buChar char="•"/>
            </a:pPr>
            <a:r>
              <a:rPr lang="en" sz="1600">
                <a:solidFill>
                  <a:srgbClr val="262626"/>
                </a:solidFill>
                <a:latin typeface="Calibri"/>
              </a:rPr>
              <a:t/>
            </a:r>
            <a:r>
              <a:rPr lang="en" sz="1600" u="sng">
                <a:solidFill>
                  <a:schemeClr val="hlink"/>
                </a:solidFill>
                <a:latin typeface="Calibri"/>
                <a:hlinkClick r:id="rId3"/>
              </a:rPr>
              <a:t>https://archive.ics.uci.edu/dataset/320/student+performance</a:t>
            </a:r>
            <a:endParaRPr sz="2800" u="sng">
              <a:solidFill>
                <a:schemeClr val="hlink"/>
              </a:solidFill>
            </a:endParaRPr>
          </a:p>
          <a:p>
            <a:pPr indent="-228600" lvl="0" marL="342900" rtl="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rgbClr val="1F3A5F"/>
              </a:buClr>
              <a:buSzPct val="100000"/>
              <a:buFont typeface="Arial"/>
              <a:buChar char="•"/>
            </a:pPr>
            <a:r>
              <a:rPr lang="en" sz="1600">
                <a:solidFill>
                  <a:srgbClr val="262626"/>
                </a:solidFill>
                <a:latin typeface="Calibri"/>
              </a:rPr>
              <a:t>The data was collected using school reports and questionnaires.</a:t>
            </a:r>
            <a:endParaRPr sz="2800">
              <a:solidFill>
                <a:schemeClr val="dk1"/>
              </a:solidFill>
            </a:endParaRPr>
          </a:p>
          <a:p>
            <a:pPr indent="-228600" lvl="0" marL="342900" rtl="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rgbClr val="1F3A5F"/>
              </a:buClr>
              <a:buSzPct val="100000"/>
              <a:buFont typeface="Arial"/>
              <a:buChar char="•"/>
            </a:pPr>
            <a:r>
              <a:rPr lang="en" sz="1600">
                <a:solidFill>
                  <a:srgbClr val="262626"/>
                </a:solidFill>
                <a:latin typeface="Calibri"/>
              </a:rPr>
              <a:t>Information on demographics, family background, study habits, social activities, lifestyle, educational circumstances, and academic information.</a:t>
            </a:r>
            <a:endParaRPr sz="2800">
              <a:solidFill>
                <a:schemeClr val="dk1"/>
              </a:solidFill>
            </a:endParaRPr>
          </a:p>
          <a:p>
            <a:pPr indent="-228600" lvl="0" marL="342900" rtl="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rgbClr val="1F3A5F"/>
              </a:buClr>
              <a:buSzPct val="100000"/>
              <a:buFont typeface="Arial"/>
              <a:buChar char="•"/>
            </a:pPr>
            <a:r>
              <a:rPr lang="en" sz="1600">
                <a:solidFill>
                  <a:srgbClr val="262626"/>
                </a:solidFill>
                <a:latin typeface="Calibri"/>
              </a:rPr>
              <a:t>Final course grades were examined across both Mathematics and Portuguese courses.</a:t>
            </a:r>
            <a:endParaRPr sz="2800">
              <a:solidFill>
                <a:schemeClr val="dk1"/>
              </a:solidFill>
            </a:endParaRPr>
          </a:p>
        </p:txBody>
      </p:sp>
      <p:sp>
        <p:nvSpPr>
          <p:cNvPr id="107" name="TextBox 106"/>
          <p:cNvSpPr txBox="1"/>
          <p:nvPr/>
        </p:nvSpPr>
        <p:spPr>
          <a:xfrm>
            <a:off x="402336" y="4736592"/>
            <a:ext cx="5486400" cy="274320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l"/>
            <a:r>
              <a:rPr sz="900">
                <a:solidFill>
                  <a:srgbClr val="5F6670"/>
                </a:solidFill>
                <a:latin typeface="Calibri"/>
              </a:rPr>
              <a:t>DATA 602  |  Student Academic Performance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827264" y="4736592"/>
            <a:ext cx="914400" cy="274320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r"/>
            <a:r>
              <a:rPr sz="900">
                <a:solidFill>
                  <a:srgbClr val="5F6670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7"/>
          <p:cNvSpPr txBox="1"/>
          <p:nvPr>
            <p:ph type="title"/>
          </p:nvPr>
        </p:nvSpPr>
        <p:spPr>
          <a:xfrm>
            <a:off x="310896" y="274320"/>
            <a:ext cx="8522208" cy="64008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rgbClr val="1F3A5F"/>
                </a:solidFill>
                <a:latin typeface="Calibri"/>
              </a:rPr>
              <a:t>Why?</a:t>
            </a:r>
            <a:endParaRPr/>
          </a:p>
        </p:txBody>
      </p:sp>
      <p:sp>
        <p:nvSpPr>
          <p:cNvPr id="112" name="Google Shape;112;p27"/>
          <p:cNvSpPr txBox="1"/>
          <p:nvPr>
            <p:ph idx="1" type="body"/>
          </p:nvPr>
        </p:nvSpPr>
        <p:spPr>
          <a:xfrm>
            <a:off x="310896" y="1005840"/>
            <a:ext cx="8522208" cy="361188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3429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3A5F"/>
              </a:buClr>
              <a:buSzPct val="100000"/>
              <a:buFont typeface="Arial"/>
              <a:buChar char="•"/>
            </a:pPr>
            <a:r>
              <a:rPr lang="en" sz="1600">
                <a:solidFill>
                  <a:srgbClr val="262626"/>
                </a:solidFill>
                <a:latin typeface="Calibri"/>
              </a:rPr>
              <a:t>May help educators and schools identify students who may benefit from additional academic support.</a:t>
            </a:r>
            <a:endParaRPr sz="2800">
              <a:solidFill>
                <a:schemeClr val="dk1"/>
              </a:solidFill>
            </a:endParaRPr>
          </a:p>
          <a:p>
            <a:pPr indent="-228600" lvl="0" marL="342900" rtl="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rgbClr val="1F3A5F"/>
              </a:buClr>
              <a:buSzPct val="100000"/>
              <a:buFont typeface="Arial"/>
              <a:buChar char="•"/>
            </a:pPr>
            <a:r>
              <a:rPr lang="en" sz="1600">
                <a:solidFill>
                  <a:srgbClr val="262626"/>
                </a:solidFill>
                <a:latin typeface="Calibri"/>
              </a:rPr>
              <a:t>Provide insights into how students’ study habits, family background, social activities, and attendance effect and contribute to their final grades.</a:t>
            </a:r>
            <a:endParaRPr sz="2800">
              <a:solidFill>
                <a:schemeClr val="dk1"/>
              </a:solidFill>
            </a:endParaRPr>
          </a:p>
        </p:txBody>
      </p:sp>
      <p:sp>
        <p:nvSpPr>
          <p:cNvPr id="113" name="TextBox 112"/>
          <p:cNvSpPr txBox="1"/>
          <p:nvPr/>
        </p:nvSpPr>
        <p:spPr>
          <a:xfrm>
            <a:off x="402336" y="4736592"/>
            <a:ext cx="5486400" cy="274320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l"/>
            <a:r>
              <a:rPr sz="900">
                <a:solidFill>
                  <a:srgbClr val="5F6670"/>
                </a:solidFill>
                <a:latin typeface="Calibri"/>
              </a:rPr>
              <a:t>DATA 602  |  Student Academic Performance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7827264" y="4736592"/>
            <a:ext cx="914400" cy="274320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r"/>
            <a:r>
              <a:rPr sz="900">
                <a:solidFill>
                  <a:srgbClr val="5F667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8"/>
          <p:cNvSpPr txBox="1"/>
          <p:nvPr>
            <p:ph type="title"/>
          </p:nvPr>
        </p:nvSpPr>
        <p:spPr>
          <a:xfrm>
            <a:off x="310896" y="274320"/>
            <a:ext cx="8522208" cy="64008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rgbClr val="1F3A5F"/>
                </a:solidFill>
                <a:latin typeface="Calibri"/>
              </a:rPr>
              <a:t>Variables of Interest</a:t>
            </a:r>
            <a:endParaRPr/>
          </a:p>
        </p:txBody>
      </p:sp>
      <p:sp>
        <p:nvSpPr>
          <p:cNvPr id="118" name="Google Shape;118;p28"/>
          <p:cNvSpPr txBox="1"/>
          <p:nvPr>
            <p:ph idx="1" type="body"/>
          </p:nvPr>
        </p:nvSpPr>
        <p:spPr>
          <a:xfrm>
            <a:off x="310896" y="1005840"/>
            <a:ext cx="8522208" cy="361188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262626"/>
                </a:solidFill>
                <a:latin typeface="Calibri"/>
              </a:rPr>
              <a:t>Final grade in Mathematics and Portuguese courses.</a:t>
            </a:r>
            <a:endParaRPr sz="2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262626"/>
                </a:solidFill>
                <a:latin typeface="Calibri"/>
              </a:rPr>
              <a:t>Predictors:</a:t>
            </a:r>
            <a:endParaRPr sz="2600">
              <a:solidFill>
                <a:schemeClr val="dk1"/>
              </a:solidFill>
            </a:endParaRPr>
          </a:p>
          <a:p>
            <a:pPr indent="-228600" lvl="0" marL="342900" rtl="0" algn="l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1F3A5F"/>
              </a:buClr>
              <a:buSzPct val="100000"/>
              <a:buFont typeface="Arial"/>
              <a:buChar char="•"/>
            </a:pPr>
            <a:r>
              <a:rPr lang="en" sz="1500">
                <a:solidFill>
                  <a:srgbClr val="262626"/>
                </a:solidFill>
                <a:latin typeface="Calibri"/>
              </a:rPr>
              <a:t>School</a:t>
            </a:r>
            <a:endParaRPr sz="2200">
              <a:solidFill>
                <a:schemeClr val="dk1"/>
              </a:solidFill>
            </a:endParaRPr>
          </a:p>
          <a:p>
            <a:pPr indent="-228600" lvl="0" marL="342900" rtl="0" algn="l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1F3A5F"/>
              </a:buClr>
              <a:buSzPct val="100000"/>
              <a:buFont typeface="Arial"/>
              <a:buChar char="•"/>
            </a:pPr>
            <a:r>
              <a:rPr lang="en" sz="1500">
                <a:solidFill>
                  <a:srgbClr val="262626"/>
                </a:solidFill>
                <a:latin typeface="Calibri"/>
              </a:rPr>
              <a:t>Sex</a:t>
            </a:r>
            <a:endParaRPr sz="2200">
              <a:solidFill>
                <a:schemeClr val="dk1"/>
              </a:solidFill>
            </a:endParaRPr>
          </a:p>
          <a:p>
            <a:pPr indent="-228600" lvl="0" marL="342900" rtl="0" algn="l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1F3A5F"/>
              </a:buClr>
              <a:buSzPct val="100000"/>
              <a:buFont typeface="Arial"/>
              <a:buChar char="•"/>
            </a:pPr>
            <a:r>
              <a:rPr lang="en" sz="1500">
                <a:solidFill>
                  <a:srgbClr val="262626"/>
                </a:solidFill>
                <a:latin typeface="Calibri"/>
              </a:rPr>
              <a:t>Address</a:t>
            </a:r>
            <a:endParaRPr sz="2200">
              <a:solidFill>
                <a:schemeClr val="dk1"/>
              </a:solidFill>
            </a:endParaRPr>
          </a:p>
          <a:p>
            <a:pPr indent="-228600" lvl="0" marL="342900" rtl="0" algn="l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1F3A5F"/>
              </a:buClr>
              <a:buSzPct val="100000"/>
              <a:buFont typeface="Arial"/>
              <a:buChar char="•"/>
            </a:pPr>
            <a:r>
              <a:rPr lang="en" sz="1500">
                <a:solidFill>
                  <a:srgbClr val="262626"/>
                </a:solidFill>
                <a:latin typeface="Calibri"/>
              </a:rPr>
              <a:t>Parental Cohabitation Status</a:t>
            </a:r>
            <a:endParaRPr sz="2200">
              <a:solidFill>
                <a:schemeClr val="dk1"/>
              </a:solidFill>
            </a:endParaRPr>
          </a:p>
          <a:p>
            <a:pPr indent="-228600" lvl="0" marL="342900" rtl="0" algn="l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1F3A5F"/>
              </a:buClr>
              <a:buSzPct val="100000"/>
              <a:buFont typeface="Arial"/>
              <a:buChar char="•"/>
            </a:pPr>
            <a:r>
              <a:rPr lang="en" sz="1500">
                <a:solidFill>
                  <a:srgbClr val="262626"/>
                </a:solidFill>
                <a:latin typeface="Calibri"/>
              </a:rPr>
              <a:t>Mother's job</a:t>
            </a:r>
            <a:endParaRPr sz="2200">
              <a:solidFill>
                <a:schemeClr val="dk1"/>
              </a:solidFill>
            </a:endParaRPr>
          </a:p>
          <a:p>
            <a:pPr indent="-228600" lvl="0" marL="342900" rtl="0" algn="l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1F3A5F"/>
              </a:buClr>
              <a:buSzPct val="100000"/>
              <a:buFont typeface="Arial"/>
              <a:buChar char="•"/>
            </a:pPr>
            <a:r>
              <a:rPr lang="en" sz="1500">
                <a:solidFill>
                  <a:srgbClr val="262626"/>
                </a:solidFill>
                <a:latin typeface="Calibri"/>
              </a:rPr>
              <a:t>Father's job</a:t>
            </a:r>
            <a:endParaRPr sz="2200">
              <a:solidFill>
                <a:schemeClr val="dk1"/>
              </a:solidFill>
            </a:endParaRPr>
          </a:p>
          <a:p>
            <a:pPr indent="-228600" lvl="0" marL="342900" rtl="0" algn="l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1F3A5F"/>
              </a:buClr>
              <a:buSzPct val="100000"/>
              <a:buFont typeface="Arial"/>
              <a:buChar char="•"/>
            </a:pPr>
            <a:r>
              <a:rPr lang="en" sz="1500">
                <a:solidFill>
                  <a:srgbClr val="262626"/>
                </a:solidFill>
                <a:latin typeface="Calibri"/>
              </a:rPr>
              <a:t>Study time</a:t>
            </a:r>
            <a:endParaRPr sz="2200">
              <a:solidFill>
                <a:schemeClr val="dk1"/>
              </a:solidFill>
            </a:endParaRPr>
          </a:p>
          <a:p>
            <a:pPr indent="-228600" lvl="0" marL="342900" rtl="0" algn="l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1F3A5F"/>
              </a:buClr>
              <a:buSzPct val="100000"/>
              <a:buFont typeface="Arial"/>
              <a:buChar char="•"/>
            </a:pPr>
            <a:r>
              <a:rPr lang="en" sz="1500">
                <a:solidFill>
                  <a:srgbClr val="262626"/>
                </a:solidFill>
                <a:latin typeface="Calibri"/>
              </a:rPr>
              <a:t>Internet Access</a:t>
            </a:r>
            <a:endParaRPr sz="2200">
              <a:solidFill>
                <a:schemeClr val="dk1"/>
              </a:solidFill>
            </a:endParaRPr>
          </a:p>
          <a:p>
            <a:pPr indent="-228600" lvl="0" marL="342900" rtl="0" algn="l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1F3A5F"/>
              </a:buClr>
              <a:buSzPct val="100000"/>
              <a:buFont typeface="Arial"/>
              <a:buChar char="•"/>
            </a:pPr>
            <a:r>
              <a:rPr lang="en" sz="1500">
                <a:solidFill>
                  <a:srgbClr val="262626"/>
                </a:solidFill>
                <a:latin typeface="Calibri"/>
              </a:rPr>
              <a:t>Absences</a:t>
            </a:r>
            <a:endParaRPr sz="2200">
              <a:solidFill>
                <a:schemeClr val="dk1"/>
              </a:solidFill>
            </a:endParaRPr>
          </a:p>
          <a:p>
            <a:pPr indent="-228600" lvl="0" marL="342900" rtl="0" algn="l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1F3A5F"/>
              </a:buClr>
              <a:buSzPct val="100000"/>
              <a:buFont typeface="Arial"/>
              <a:buChar char="•"/>
            </a:pPr>
            <a:r>
              <a:rPr lang="en" sz="1500">
                <a:solidFill>
                  <a:srgbClr val="262626"/>
                </a:solidFill>
                <a:latin typeface="Calibri"/>
              </a:rPr>
              <a:t>First Period Grade</a:t>
            </a:r>
            <a:endParaRPr sz="2200">
              <a:solidFill>
                <a:schemeClr val="dk1"/>
              </a:solidFill>
            </a:endParaRPr>
          </a:p>
          <a:p>
            <a:pPr indent="-228600" lvl="0" marL="342900" rtl="0" algn="l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1F3A5F"/>
              </a:buClr>
              <a:buSzPct val="100000"/>
              <a:buFont typeface="Arial"/>
              <a:buChar char="•"/>
            </a:pPr>
            <a:r>
              <a:rPr lang="en" sz="1500">
                <a:solidFill>
                  <a:srgbClr val="262626"/>
                </a:solidFill>
                <a:latin typeface="Calibri"/>
              </a:rPr>
              <a:t>Second Period Grade</a:t>
            </a:r>
            <a:endParaRPr sz="2200">
              <a:solidFill>
                <a:schemeClr val="dk1"/>
              </a:solidFill>
            </a:endParaRPr>
          </a:p>
        </p:txBody>
      </p:sp>
      <p:sp>
        <p:nvSpPr>
          <p:cNvPr id="119" name="TextBox 118"/>
          <p:cNvSpPr txBox="1"/>
          <p:nvPr/>
        </p:nvSpPr>
        <p:spPr>
          <a:xfrm>
            <a:off x="402336" y="4736592"/>
            <a:ext cx="5486400" cy="274320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l"/>
            <a:r>
              <a:rPr sz="900">
                <a:solidFill>
                  <a:srgbClr val="5F6670"/>
                </a:solidFill>
                <a:latin typeface="Calibri"/>
              </a:rPr>
              <a:t>DATA 602  |  Student Academic Performance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7827264" y="4736592"/>
            <a:ext cx="914400" cy="274320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r"/>
            <a:r>
              <a:rPr sz="900">
                <a:solidFill>
                  <a:srgbClr val="5F667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9"/>
          <p:cNvSpPr txBox="1"/>
          <p:nvPr>
            <p:ph type="title"/>
          </p:nvPr>
        </p:nvSpPr>
        <p:spPr>
          <a:xfrm>
            <a:off x="310896" y="274320"/>
            <a:ext cx="8522208" cy="64008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1F3A5F"/>
                </a:solidFill>
                <a:latin typeface="Calibri"/>
              </a:rPr>
              <a:t>Most students score higher in Portuguese</a:t>
            </a:r>
            <a:r>
              <a:rPr lang="en" sz="2400" b="1">
                <a:solidFill>
                  <a:srgbClr val="1F3A5F"/>
                </a:solidFill>
                <a:latin typeface="Calibri"/>
              </a:rPr>
              <a:t> </a:t>
            </a:r>
            <a:endParaRPr/>
          </a:p>
        </p:txBody>
      </p:sp>
      <p:sp>
        <p:nvSpPr>
          <p:cNvPr id="124" name="Google Shape;124;p29"/>
          <p:cNvSpPr txBox="1"/>
          <p:nvPr>
            <p:ph idx="1" type="body"/>
          </p:nvPr>
        </p:nvSpPr>
        <p:spPr>
          <a:xfrm>
            <a:off x="311700" y="1152150"/>
            <a:ext cx="5776200" cy="341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29"/>
          <p:cNvSpPr/>
          <p:nvPr/>
        </p:nvSpPr>
        <p:spPr>
          <a:xfrm>
            <a:off x="6293475" y="1271250"/>
            <a:ext cx="2458200" cy="855600"/>
          </a:xfrm>
          <a:prstGeom prst="roundRect">
            <a:avLst>
              <a:gd fmla="val 16667" name="adj"/>
            </a:avLst>
          </a:prstGeom>
          <a:solidFill>
            <a:srgbClr val="F3F5F8"/>
          </a:solidFill>
          <a:ln cap="flat" cmpd="sng" w="9525">
            <a:solidFill>
              <a:srgbClr val="D5DAE1"/>
            </a:solidFill>
            <a:prstDash val="solid"/>
            <a:round/>
            <a:headEnd len="sm" w="sm" type="none"/>
            <a:tailEnd len="sm" w="sm" type="none"/>
          </a:ln>
          <a:effectLst/>
        </p:spPr>
        <p:txBody>
          <a:bodyPr anchorCtr="0" anchor="ctr" bIns="73152" lIns="109728" spcFirstLastPara="1" rIns="109728" wrap="square" tIns="73152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" sz="1200">
                <a:solidFill>
                  <a:srgbClr val="262626"/>
                </a:solidFill>
                <a:latin typeface="Calibri"/>
              </a:rPr>
              <a:t/>
            </a:r>
            <a:r>
              <a:rPr lang="en" sz="1200">
                <a:solidFill>
                  <a:srgbClr val="262626"/>
                </a:solidFill>
                <a:latin typeface="Calibri"/>
                <a:sym typeface="Calibri"/>
              </a:rPr>
              <a:t>Long right  tail to about 15, so the distribution is right-skewed</a:t>
            </a:r>
            <a:endParaRPr/>
          </a:p>
        </p:txBody>
      </p:sp>
      <p:sp>
        <p:nvSpPr>
          <p:cNvPr id="126" name="Google Shape;126;p29"/>
          <p:cNvSpPr/>
          <p:nvPr/>
        </p:nvSpPr>
        <p:spPr>
          <a:xfrm>
            <a:off x="6293475" y="2315400"/>
            <a:ext cx="2458200" cy="855600"/>
          </a:xfrm>
          <a:prstGeom prst="roundRect">
            <a:avLst>
              <a:gd fmla="val 16667" name="adj"/>
            </a:avLst>
          </a:prstGeom>
          <a:solidFill>
            <a:srgbClr val="F3F5F8"/>
          </a:solidFill>
          <a:ln cap="flat" cmpd="sng" w="9525">
            <a:solidFill>
              <a:srgbClr val="D5DAE1"/>
            </a:solidFill>
            <a:prstDash val="solid"/>
            <a:round/>
            <a:headEnd len="sm" w="sm" type="none"/>
            <a:tailEnd len="sm" w="sm" type="none"/>
          </a:ln>
          <a:effectLst/>
        </p:spPr>
        <p:txBody>
          <a:bodyPr anchorCtr="0" anchor="ctr" bIns="73152" lIns="109728" spcFirstLastPara="1" rIns="109728" wrap="square" tIns="73152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" sz="1200">
                <a:solidFill>
                  <a:srgbClr val="262626"/>
                </a:solidFill>
                <a:latin typeface="Calibri"/>
              </a:rPr>
              <a:t/>
            </a:r>
            <a:r>
              <a:rPr lang="en" sz="1200">
                <a:solidFill>
                  <a:srgbClr val="262626"/>
                </a:solidFill>
                <a:latin typeface="Calibri"/>
                <a:sym typeface="Calibri"/>
              </a:rPr>
              <a:t>Most students fall between −4 and +6, it is roughly bell-shaped.</a:t>
            </a:r>
            <a:endParaRPr/>
          </a:p>
        </p:txBody>
      </p:sp>
      <p:pic>
        <p:nvPicPr>
          <p:cNvPr id="127" name="Google Shape;127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2150"/>
            <a:ext cx="5776201" cy="34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TextBox 127"/>
          <p:cNvSpPr txBox="1"/>
          <p:nvPr/>
        </p:nvSpPr>
        <p:spPr>
          <a:xfrm>
            <a:off x="402336" y="4736592"/>
            <a:ext cx="5486400" cy="274320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l"/>
            <a:r>
              <a:rPr sz="900">
                <a:solidFill>
                  <a:srgbClr val="5F6670"/>
                </a:solidFill>
                <a:latin typeface="Calibri"/>
              </a:rPr>
              <a:t>DATA 602  |  Student Academic Performance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7827264" y="4736592"/>
            <a:ext cx="914400" cy="274320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r"/>
            <a:r>
              <a:rPr sz="900">
                <a:solidFill>
                  <a:srgbClr val="5F667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0"/>
          <p:cNvSpPr txBox="1"/>
          <p:nvPr>
            <p:ph type="title"/>
          </p:nvPr>
        </p:nvSpPr>
        <p:spPr>
          <a:xfrm>
            <a:off x="310896" y="274320"/>
            <a:ext cx="8522208" cy="64008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1F3A5F"/>
                </a:solidFill>
                <a:latin typeface="Calibri"/>
              </a:rPr>
              <a:t>Boxplot Of Grade Differences</a:t>
            </a:r>
            <a:r>
              <a:rPr lang="en" sz="2400" b="1">
                <a:solidFill>
                  <a:srgbClr val="1F3A5F"/>
                </a:solidFill>
                <a:latin typeface="Calibri"/>
              </a:rPr>
              <a:t> </a:t>
            </a:r>
            <a:endParaRPr/>
          </a:p>
        </p:txBody>
      </p:sp>
      <p:sp>
        <p:nvSpPr>
          <p:cNvPr id="133" name="Google Shape;133;p30"/>
          <p:cNvSpPr txBox="1"/>
          <p:nvPr>
            <p:ph idx="1" type="body"/>
          </p:nvPr>
        </p:nvSpPr>
        <p:spPr>
          <a:xfrm>
            <a:off x="311700" y="1152150"/>
            <a:ext cx="5776200" cy="341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30"/>
          <p:cNvSpPr/>
          <p:nvPr/>
        </p:nvSpPr>
        <p:spPr>
          <a:xfrm>
            <a:off x="6293475" y="1271250"/>
            <a:ext cx="2458200" cy="855600"/>
          </a:xfrm>
          <a:prstGeom prst="roundRect">
            <a:avLst>
              <a:gd fmla="val 16667" name="adj"/>
            </a:avLst>
          </a:prstGeom>
          <a:solidFill>
            <a:srgbClr val="F3F5F8"/>
          </a:solidFill>
          <a:ln cap="flat" cmpd="sng" w="9525">
            <a:solidFill>
              <a:srgbClr val="D5DAE1"/>
            </a:solidFill>
            <a:prstDash val="solid"/>
            <a:round/>
            <a:headEnd len="sm" w="sm" type="none"/>
            <a:tailEnd len="sm" w="sm" type="none"/>
          </a:ln>
          <a:effectLst/>
        </p:spPr>
        <p:txBody>
          <a:bodyPr anchorCtr="0" anchor="ctr" bIns="73152" lIns="109728" spcFirstLastPara="1" rIns="109728" wrap="square" tIns="73152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1F3A5F"/>
                </a:solidFill>
                <a:latin typeface="Calibri"/>
              </a:rPr>
              <a:t>2</a:t>
            </a:r>
            <a:endParaRPr b="1" sz="3000">
              <a:solidFill>
                <a:srgbClr val="1E2433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62626"/>
                </a:solidFill>
                <a:latin typeface="Calibri"/>
                <a:sym typeface="Calibri"/>
              </a:rPr>
              <a:t>median grade difference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35" name="Google Shape;135;p30"/>
          <p:cNvSpPr/>
          <p:nvPr/>
        </p:nvSpPr>
        <p:spPr>
          <a:xfrm>
            <a:off x="6293475" y="2315400"/>
            <a:ext cx="2458200" cy="855600"/>
          </a:xfrm>
          <a:prstGeom prst="roundRect">
            <a:avLst>
              <a:gd fmla="val 16667" name="adj"/>
            </a:avLst>
          </a:prstGeom>
          <a:solidFill>
            <a:srgbClr val="F3F5F8"/>
          </a:solidFill>
          <a:ln cap="flat" cmpd="sng" w="9525">
            <a:solidFill>
              <a:srgbClr val="D5DAE1"/>
            </a:solidFill>
            <a:prstDash val="solid"/>
            <a:round/>
            <a:headEnd len="sm" w="sm" type="none"/>
            <a:tailEnd len="sm" w="sm" type="none"/>
          </a:ln>
          <a:effectLst/>
        </p:spPr>
        <p:txBody>
          <a:bodyPr anchorCtr="0" anchor="ctr" bIns="73152" lIns="109728" spcFirstLastPara="1" rIns="109728" wrap="square" tIns="73152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1F3A5F"/>
                </a:solidFill>
                <a:latin typeface="Calibri"/>
              </a:rPr>
              <a:t>0 to 4</a:t>
            </a:r>
            <a:endParaRPr b="1" sz="3000">
              <a:solidFill>
                <a:srgbClr val="3B6EA5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62626"/>
                </a:solidFill>
                <a:latin typeface="Calibri"/>
                <a:sym typeface="Calibri"/>
              </a:rPr>
              <a:t>middle 50% of students (IQR = 4)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36" name="Google Shape;136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2150"/>
            <a:ext cx="5776200" cy="34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TextBox 136"/>
          <p:cNvSpPr txBox="1"/>
          <p:nvPr/>
        </p:nvSpPr>
        <p:spPr>
          <a:xfrm>
            <a:off x="402336" y="4736592"/>
            <a:ext cx="5486400" cy="274320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l"/>
            <a:r>
              <a:rPr sz="900">
                <a:solidFill>
                  <a:srgbClr val="5F6670"/>
                </a:solidFill>
                <a:latin typeface="Calibri"/>
              </a:rPr>
              <a:t>DATA 602  |  Student Academic Performance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7827264" y="4736592"/>
            <a:ext cx="914400" cy="274320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r"/>
            <a:r>
              <a:rPr sz="900">
                <a:solidFill>
                  <a:srgbClr val="5F667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1"/>
          <p:cNvSpPr txBox="1"/>
          <p:nvPr>
            <p:ph type="title"/>
          </p:nvPr>
        </p:nvSpPr>
        <p:spPr>
          <a:xfrm>
            <a:off x="310896" y="274320"/>
            <a:ext cx="8522208" cy="64008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1F3A5F"/>
                </a:solidFill>
                <a:latin typeface="Calibri"/>
              </a:rPr>
              <a:t>Grade Differences by Home Address Type</a:t>
            </a:r>
            <a:endParaRPr/>
          </a:p>
        </p:txBody>
      </p:sp>
      <p:sp>
        <p:nvSpPr>
          <p:cNvPr id="142" name="Google Shape;142;p31"/>
          <p:cNvSpPr txBox="1"/>
          <p:nvPr>
            <p:ph idx="1" type="body"/>
          </p:nvPr>
        </p:nvSpPr>
        <p:spPr>
          <a:xfrm>
            <a:off x="311700" y="1152150"/>
            <a:ext cx="5776200" cy="341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31"/>
          <p:cNvSpPr/>
          <p:nvPr/>
        </p:nvSpPr>
        <p:spPr>
          <a:xfrm>
            <a:off x="6269375" y="1152150"/>
            <a:ext cx="2718000" cy="1301100"/>
          </a:xfrm>
          <a:prstGeom prst="roundRect">
            <a:avLst>
              <a:gd fmla="val 16667" name="adj"/>
            </a:avLst>
          </a:prstGeom>
          <a:solidFill>
            <a:srgbClr val="F3F5F8"/>
          </a:solidFill>
          <a:ln cap="flat" cmpd="sng" w="9525">
            <a:solidFill>
              <a:srgbClr val="D5DAE1"/>
            </a:solidFill>
            <a:prstDash val="solid"/>
            <a:round/>
            <a:headEnd len="sm" w="sm" type="none"/>
            <a:tailEnd len="sm" w="sm" type="none"/>
          </a:ln>
          <a:effectLst/>
        </p:spPr>
        <p:txBody>
          <a:bodyPr anchorCtr="0" anchor="ctr" bIns="73152" lIns="109728" spcFirstLastPara="1" rIns="109728" wrap="square" tIns="73152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62626"/>
                </a:solidFill>
                <a:highlight>
                  <a:schemeClr val="lt2"/>
                </a:highlight>
                <a:latin typeface="Calibri"/>
              </a:rPr>
              <a:t>Urban students have a slightly higher median grade difference than rural students, suggesting rural students have a somewhat smaller gap between their Portuguese and </a:t>
            </a:r>
            <a:r>
              <a:rPr lang="en" sz="1200">
                <a:solidFill>
                  <a:srgbClr val="262626"/>
                </a:solidFill>
                <a:highlight>
                  <a:schemeClr val="lt2"/>
                </a:highlight>
                <a:latin typeface="Calibri"/>
              </a:rPr>
              <a:t>Mathematics </a:t>
            </a:r>
            <a:r>
              <a:rPr lang="en" sz="1200">
                <a:solidFill>
                  <a:srgbClr val="262626"/>
                </a:solidFill>
                <a:highlight>
                  <a:schemeClr val="lt2"/>
                </a:highlight>
                <a:latin typeface="Calibri"/>
              </a:rPr>
              <a:t> grades. </a:t>
            </a:r>
            <a:r>
              <a:rPr lang="en" sz="1200">
                <a:solidFill>
                  <a:srgbClr val="262626"/>
                </a:solidFill>
                <a:latin typeface="Calibri"/>
              </a:rPr>
              <a:t> </a:t>
            </a:r>
            <a:endParaRPr/>
          </a:p>
        </p:txBody>
      </p:sp>
      <p:pic>
        <p:nvPicPr>
          <p:cNvPr id="144" name="Google Shape;144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2150"/>
            <a:ext cx="5776199" cy="341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9375" y="2641425"/>
            <a:ext cx="2718000" cy="180975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TextBox 145"/>
          <p:cNvSpPr txBox="1"/>
          <p:nvPr/>
        </p:nvSpPr>
        <p:spPr>
          <a:xfrm>
            <a:off x="402336" y="4736592"/>
            <a:ext cx="5486400" cy="274320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l"/>
            <a:r>
              <a:rPr sz="900">
                <a:solidFill>
                  <a:srgbClr val="5F6670"/>
                </a:solidFill>
                <a:latin typeface="Calibri"/>
              </a:rPr>
              <a:t>DATA 602  |  Student Academic Performance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7827264" y="4736592"/>
            <a:ext cx="914400" cy="274320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r"/>
            <a:r>
              <a:rPr sz="900">
                <a:solidFill>
                  <a:srgbClr val="5F667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2"/>
          <p:cNvSpPr txBox="1"/>
          <p:nvPr>
            <p:ph type="title"/>
          </p:nvPr>
        </p:nvSpPr>
        <p:spPr>
          <a:xfrm>
            <a:off x="310896" y="274320"/>
            <a:ext cx="8522208" cy="64008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1F3A5F"/>
                </a:solidFill>
                <a:latin typeface="Calibri"/>
              </a:rPr>
              <a:t>Strong students tend to be strong in both subjects</a:t>
            </a:r>
            <a:r>
              <a:rPr lang="en" sz="2400" b="1">
                <a:solidFill>
                  <a:srgbClr val="1F3A5F"/>
                </a:solidFill>
                <a:latin typeface="Calibri"/>
              </a:rPr>
              <a:t> </a:t>
            </a:r>
            <a:endParaRPr/>
          </a:p>
        </p:txBody>
      </p:sp>
      <p:sp>
        <p:nvSpPr>
          <p:cNvPr id="151" name="Google Shape;151;p32"/>
          <p:cNvSpPr txBox="1"/>
          <p:nvPr>
            <p:ph idx="1" type="body"/>
          </p:nvPr>
        </p:nvSpPr>
        <p:spPr>
          <a:xfrm>
            <a:off x="311700" y="1152150"/>
            <a:ext cx="5776200" cy="341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32"/>
          <p:cNvSpPr/>
          <p:nvPr/>
        </p:nvSpPr>
        <p:spPr>
          <a:xfrm>
            <a:off x="6293475" y="1271250"/>
            <a:ext cx="2458200" cy="1154700"/>
          </a:xfrm>
          <a:prstGeom prst="roundRect">
            <a:avLst>
              <a:gd fmla="val 16667" name="adj"/>
            </a:avLst>
          </a:prstGeom>
          <a:solidFill>
            <a:srgbClr val="F3F5F8"/>
          </a:solidFill>
          <a:ln cap="flat" cmpd="sng" w="9525">
            <a:solidFill>
              <a:srgbClr val="D5DAE1"/>
            </a:solidFill>
            <a:prstDash val="solid"/>
            <a:round/>
            <a:headEnd len="sm" w="sm" type="none"/>
            <a:tailEnd len="sm" w="sm" type="none"/>
          </a:ln>
          <a:effectLst/>
        </p:spPr>
        <p:txBody>
          <a:bodyPr anchorCtr="0" anchor="ctr" bIns="73152" lIns="109728" spcFirstLastPara="1" rIns="109728" wrap="square" tIns="73152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" sz="1200">
                <a:solidFill>
                  <a:srgbClr val="262626"/>
                </a:solidFill>
                <a:highlight>
                  <a:schemeClr val="lt2"/>
                </a:highlight>
                <a:latin typeface="Calibri"/>
              </a:rPr>
              <a:t>There is a positive relationship between Portuguese and </a:t>
            </a:r>
            <a:r>
              <a:rPr lang="en" sz="1200">
                <a:solidFill>
                  <a:srgbClr val="262626"/>
                </a:solidFill>
                <a:highlight>
                  <a:schemeClr val="lt2"/>
                </a:highlight>
                <a:latin typeface="Calibri"/>
              </a:rPr>
              <a:t>Mathematics</a:t>
            </a:r>
            <a:r>
              <a:rPr lang="en" sz="1200">
                <a:solidFill>
                  <a:srgbClr val="262626"/>
                </a:solidFill>
                <a:highlight>
                  <a:schemeClr val="lt2"/>
                </a:highlight>
                <a:latin typeface="Calibri"/>
              </a:rPr>
              <a:t> final grades (r = [ 0.48])</a:t>
            </a:r>
            <a:r>
              <a:rPr lang="en" sz="1200">
                <a:solidFill>
                  <a:srgbClr val="262626"/>
                </a:solidFill>
                <a:highlight>
                  <a:schemeClr val="lt2"/>
                </a:highlight>
                <a:latin typeface="Calibri"/>
              </a:rPr>
              <a:t> </a:t>
            </a:r>
            <a:endParaRPr>
              <a:highlight>
                <a:schemeClr val="lt2"/>
              </a:highlight>
            </a:endParaRPr>
          </a:p>
        </p:txBody>
      </p:sp>
      <p:sp>
        <p:nvSpPr>
          <p:cNvPr id="153" name="Google Shape;153;p32"/>
          <p:cNvSpPr/>
          <p:nvPr/>
        </p:nvSpPr>
        <p:spPr>
          <a:xfrm>
            <a:off x="6293475" y="2919875"/>
            <a:ext cx="2458200" cy="1094400"/>
          </a:xfrm>
          <a:prstGeom prst="roundRect">
            <a:avLst>
              <a:gd fmla="val 16667" name="adj"/>
            </a:avLst>
          </a:prstGeom>
          <a:solidFill>
            <a:srgbClr val="F3F5F8"/>
          </a:solidFill>
          <a:ln cap="flat" cmpd="sng" w="9525">
            <a:solidFill>
              <a:srgbClr val="D5DAE1"/>
            </a:solidFill>
            <a:prstDash val="solid"/>
            <a:round/>
            <a:headEnd len="sm" w="sm" type="none"/>
            <a:tailEnd len="sm" w="sm" type="none"/>
          </a:ln>
          <a:effectLst/>
        </p:spPr>
        <p:txBody>
          <a:bodyPr anchorCtr="0" anchor="ctr" bIns="73152" lIns="109728" spcFirstLastPara="1" rIns="109728" wrap="square" tIns="73152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" sz="1200">
                <a:solidFill>
                  <a:srgbClr val="262626"/>
                </a:solidFill>
                <a:highlight>
                  <a:schemeClr val="lt2"/>
                </a:highlight>
                <a:latin typeface="Calibri"/>
              </a:rPr>
              <a:t>Some </a:t>
            </a:r>
            <a:r>
              <a:rPr lang="en" sz="1200">
                <a:solidFill>
                  <a:srgbClr val="262626"/>
                </a:solidFill>
                <a:highlight>
                  <a:schemeClr val="lt2"/>
                </a:highlight>
                <a:latin typeface="Calibri"/>
              </a:rPr>
              <a:t>points lie below the line of equal grades, consistent with students scoring lower in Mathematics</a:t>
            </a:r>
            <a:r>
              <a:rPr lang="en" sz="1200">
                <a:solidFill>
                  <a:srgbClr val="262626"/>
                </a:solidFill>
                <a:highlight>
                  <a:schemeClr val="lt2"/>
                </a:highlight>
                <a:latin typeface="Calibri"/>
              </a:rPr>
              <a:t> </a:t>
            </a:r>
            <a:endParaRPr sz="1100">
              <a:highlight>
                <a:schemeClr val="lt2"/>
              </a:highlight>
            </a:endParaRPr>
          </a:p>
        </p:txBody>
      </p:sp>
      <p:pic>
        <p:nvPicPr>
          <p:cNvPr id="154" name="Google Shape;154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2150"/>
            <a:ext cx="5132316" cy="351129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TextBox 154"/>
          <p:cNvSpPr txBox="1"/>
          <p:nvPr/>
        </p:nvSpPr>
        <p:spPr>
          <a:xfrm>
            <a:off x="402336" y="4736592"/>
            <a:ext cx="5486400" cy="274320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l"/>
            <a:r>
              <a:rPr sz="900">
                <a:solidFill>
                  <a:srgbClr val="5F6670"/>
                </a:solidFill>
                <a:latin typeface="Calibri"/>
              </a:rPr>
              <a:t>DATA 602  |  Student Academic Performance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827264" y="4736592"/>
            <a:ext cx="914400" cy="274320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r"/>
            <a:r>
              <a:rPr sz="900">
                <a:solidFill>
                  <a:srgbClr val="5F667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3"/>
          <p:cNvSpPr txBox="1"/>
          <p:nvPr>
            <p:ph type="title"/>
          </p:nvPr>
        </p:nvSpPr>
        <p:spPr>
          <a:xfrm>
            <a:off x="310896" y="274320"/>
            <a:ext cx="8522208" cy="64008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2308"/>
              <a:buFont typeface="Arial"/>
              <a:buNone/>
            </a:pPr>
            <a:r>
              <a:rPr b="1" lang="en" sz="2400">
                <a:solidFill>
                  <a:srgbClr val="1F3A5F"/>
                </a:solidFill>
                <a:latin typeface="Calibri"/>
              </a:rPr>
              <a:t>Condition Checking</a:t>
            </a:r>
            <a:endParaRPr/>
          </a:p>
        </p:txBody>
      </p:sp>
      <p:sp>
        <p:nvSpPr>
          <p:cNvPr id="160" name="Google Shape;160;p33"/>
          <p:cNvSpPr txBox="1"/>
          <p:nvPr>
            <p:ph idx="1" type="body"/>
          </p:nvPr>
        </p:nvSpPr>
        <p:spPr>
          <a:xfrm>
            <a:off x="310896" y="1005840"/>
            <a:ext cx="8522208" cy="361188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262626"/>
                </a:solidFill>
                <a:highlight>
                  <a:srgbClr val="FFFFFF"/>
                </a:highlight>
                <a:latin typeface="Calibri"/>
              </a:rPr>
              <a:t>Method 1: Paired t-Test and Confidence Interval (Conventional and Bootstrap) for the Grade Difference</a:t>
            </a:r>
            <a:endParaRPr sz="16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228600" lvl="0" marL="342900" rtl="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rgbClr val="1F3A5F"/>
              </a:buClr>
              <a:buSzPct val="100000"/>
              <a:buFont typeface="Arial"/>
              <a:buChar char="•"/>
            </a:pPr>
            <a:r>
              <a:rPr lang="en" sz="1500">
                <a:solidFill>
                  <a:srgbClr val="262626"/>
                </a:solidFill>
                <a:highlight>
                  <a:srgbClr val="FFFFFF"/>
                </a:highlight>
                <a:latin typeface="Calibri"/>
              </a:rPr>
              <a:t>Paired t-Test!</a:t>
            </a:r>
            <a:endParaRPr sz="16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228600" lvl="0" marL="342900" rtl="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rgbClr val="1F3A5F"/>
              </a:buClr>
              <a:buSzPct val="100000"/>
              <a:buFont typeface="Arial"/>
              <a:buChar char="•"/>
            </a:pPr>
            <a:r>
              <a:rPr lang="en" sz="1500">
                <a:solidFill>
                  <a:srgbClr val="262626"/>
                </a:solidFill>
                <a:highlight>
                  <a:srgbClr val="FFFFFF"/>
                </a:highlight>
                <a:latin typeface="Calibri"/>
              </a:rPr>
              <a:t>First what are our population parameters?</a:t>
            </a:r>
            <a:endParaRPr sz="16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228600" lvl="0" marL="342900" rtl="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rgbClr val="1F3A5F"/>
              </a:buClr>
              <a:buSzPct val="100000"/>
              <a:buFont typeface="Arial"/>
              <a:buChar char="•"/>
            </a:pPr>
            <a:r>
              <a:rPr lang="en" sz="1500">
                <a:solidFill>
                  <a:srgbClr val="262626"/>
                </a:solidFill>
                <a:highlight>
                  <a:srgbClr val="FFFFFF"/>
                </a:highlight>
                <a:latin typeface="Calibri"/>
              </a:rPr>
              <a:t>The average final mark in </a:t>
            </a:r>
            <a:r>
              <a:rPr lang="en" sz="1500">
                <a:solidFill>
                  <a:srgbClr val="262626"/>
                </a:solidFill>
                <a:highlight>
                  <a:srgbClr val="FFFFFF"/>
                </a:highlight>
                <a:latin typeface="Calibri"/>
              </a:rPr>
              <a:t>Portuguese</a:t>
            </a:r>
            <a:r>
              <a:rPr lang="en" sz="1500">
                <a:solidFill>
                  <a:srgbClr val="262626"/>
                </a:solidFill>
                <a:highlight>
                  <a:srgbClr val="FFFFFF"/>
                </a:highlight>
                <a:latin typeface="Calibri"/>
              </a:rPr>
              <a:t> of all students (secondary school) aged 15-22 in Portugal : </a:t>
            </a:r>
            <a:r>
              <a:rPr lang="en" sz="1500">
                <a:solidFill>
                  <a:srgbClr val="262626"/>
                </a:solidFill>
                <a:latin typeface="Calibri"/>
              </a:rPr>
              <a:t>μ</a:t>
            </a:r>
            <a:r>
              <a:rPr baseline="-25000" lang="en" sz="1500">
                <a:solidFill>
                  <a:srgbClr val="262626"/>
                </a:solidFill>
                <a:latin typeface="Calibri"/>
              </a:rPr>
              <a:t>G3Portuguese </a:t>
            </a:r>
            <a:endParaRPr baseline="-25000" sz="1600">
              <a:solidFill>
                <a:schemeClr val="dk1"/>
              </a:solidFill>
            </a:endParaRPr>
          </a:p>
          <a:p>
            <a:pPr indent="-228600" lvl="0" marL="342900" rtl="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rgbClr val="1F3A5F"/>
              </a:buClr>
              <a:buSzPct val="100000"/>
              <a:buFont typeface="Arial"/>
              <a:buChar char="•"/>
            </a:pPr>
            <a:r>
              <a:rPr lang="en" sz="1500">
                <a:solidFill>
                  <a:srgbClr val="262626"/>
                </a:solidFill>
                <a:highlight>
                  <a:srgbClr val="FFFFFF"/>
                </a:highlight>
                <a:latin typeface="Calibri"/>
              </a:rPr>
              <a:t>The average final mark in Mathematics of all students (secondary school) aged 15-22 in Portugal : </a:t>
            </a:r>
            <a:r>
              <a:rPr lang="en" sz="1500">
                <a:solidFill>
                  <a:srgbClr val="262626"/>
                </a:solidFill>
                <a:latin typeface="Calibri"/>
              </a:rPr>
              <a:t>μ</a:t>
            </a:r>
            <a:r>
              <a:rPr baseline="-25000" lang="en" sz="1500">
                <a:solidFill>
                  <a:srgbClr val="262626"/>
                </a:solidFill>
                <a:latin typeface="Calibri"/>
              </a:rPr>
              <a:t>G3Math</a:t>
            </a:r>
            <a:r>
              <a:rPr lang="en" sz="1500">
                <a:solidFill>
                  <a:srgbClr val="262626"/>
                </a:solidFill>
                <a:latin typeface="Calibri"/>
              </a:rPr>
              <a:t> 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61" name="TextBox 160"/>
          <p:cNvSpPr txBox="1"/>
          <p:nvPr/>
        </p:nvSpPr>
        <p:spPr>
          <a:xfrm>
            <a:off x="402336" y="4736592"/>
            <a:ext cx="5486400" cy="274320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l"/>
            <a:r>
              <a:rPr sz="900">
                <a:solidFill>
                  <a:srgbClr val="5F6670"/>
                </a:solidFill>
                <a:latin typeface="Calibri"/>
              </a:rPr>
              <a:t>DATA 602  |  Student Academic Performance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7827264" y="4736592"/>
            <a:ext cx="914400" cy="274320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r"/>
            <a:r>
              <a:rPr sz="900">
                <a:solidFill>
                  <a:srgbClr val="5F667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4"/>
          <p:cNvSpPr txBox="1"/>
          <p:nvPr>
            <p:ph type="title"/>
          </p:nvPr>
        </p:nvSpPr>
        <p:spPr>
          <a:xfrm>
            <a:off x="310896" y="274320"/>
            <a:ext cx="8522208" cy="64008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2308"/>
              <a:buFont typeface="Arial"/>
              <a:buNone/>
            </a:pPr>
            <a:r>
              <a:rPr b="1" lang="en" sz="2400">
                <a:solidFill>
                  <a:srgbClr val="1F3A5F"/>
                </a:solidFill>
                <a:latin typeface="Calibri"/>
              </a:rPr>
              <a:t>Condition Checking : The Assumptions</a:t>
            </a:r>
            <a:endParaRPr/>
          </a:p>
        </p:txBody>
      </p:sp>
      <p:sp>
        <p:nvSpPr>
          <p:cNvPr id="166" name="Google Shape;166;p34"/>
          <p:cNvSpPr txBox="1"/>
          <p:nvPr>
            <p:ph idx="1" type="body"/>
          </p:nvPr>
        </p:nvSpPr>
        <p:spPr>
          <a:xfrm>
            <a:off x="310896" y="1005840"/>
            <a:ext cx="8522208" cy="361188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3429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3A5F"/>
              </a:buClr>
              <a:buSzPct val="100000"/>
              <a:buFont typeface="Arial"/>
              <a:buChar char="•"/>
            </a:pPr>
            <a:r>
              <a:rPr lang="en" sz="1500">
                <a:solidFill>
                  <a:srgbClr val="262626"/>
                </a:solidFill>
                <a:highlight>
                  <a:srgbClr val="FFFFFF"/>
                </a:highlight>
                <a:latin typeface="Calibri"/>
              </a:rPr>
              <a:t>The conditions for a matched paired t-Test require the assumption that the underlying differences in the population means follow a Normal distribution / can be modeled by the Normal probability model, meaning that </a:t>
            </a:r>
            <a:r>
              <a:rPr lang="en" sz="1500">
                <a:solidFill>
                  <a:srgbClr val="262626"/>
                </a:solidFill>
                <a:latin typeface="Calibri"/>
              </a:rPr>
              <a:t>μ</a:t>
            </a:r>
            <a:r>
              <a:rPr baseline="-25000" lang="en" sz="1500">
                <a:solidFill>
                  <a:srgbClr val="262626"/>
                </a:solidFill>
                <a:latin typeface="Calibri"/>
              </a:rPr>
              <a:t>G3Portuguese </a:t>
            </a:r>
            <a:r>
              <a:rPr lang="en" sz="1500">
                <a:solidFill>
                  <a:srgbClr val="262626"/>
                </a:solidFill>
                <a:latin typeface="Calibri"/>
              </a:rPr>
              <a:t>-  μ</a:t>
            </a:r>
            <a:r>
              <a:rPr baseline="-25000" lang="en" sz="1500">
                <a:solidFill>
                  <a:srgbClr val="262626"/>
                </a:solidFill>
                <a:latin typeface="Calibri"/>
              </a:rPr>
              <a:t>G3Math</a:t>
            </a:r>
            <a:r>
              <a:rPr lang="en" sz="1500">
                <a:solidFill>
                  <a:srgbClr val="262626"/>
                </a:solidFill>
                <a:latin typeface="Calibri"/>
              </a:rPr>
              <a:t> is assumed to be Normally distributed.</a:t>
            </a:r>
            <a:endParaRPr sz="16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-228600" lvl="0" marL="342900" rtl="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rgbClr val="1F3A5F"/>
              </a:buClr>
              <a:buSzPct val="100000"/>
              <a:buFont typeface="Arial"/>
              <a:buChar char="•"/>
            </a:pPr>
            <a:r>
              <a:rPr lang="en" sz="1500">
                <a:solidFill>
                  <a:srgbClr val="262626"/>
                </a:solidFill>
                <a:latin typeface="Calibri"/>
              </a:rPr>
              <a:t>How do we carry this into the sample parameters? : X</a:t>
            </a:r>
            <a:r>
              <a:rPr baseline="-25000" lang="en" sz="1500">
                <a:solidFill>
                  <a:srgbClr val="262626"/>
                </a:solidFill>
                <a:latin typeface="Calibri"/>
              </a:rPr>
              <a:t>G3Portuguese  </a:t>
            </a:r>
            <a:r>
              <a:rPr lang="en" sz="1500">
                <a:solidFill>
                  <a:srgbClr val="262626"/>
                </a:solidFill>
                <a:latin typeface="Calibri"/>
              </a:rPr>
              <a:t>-  X</a:t>
            </a:r>
            <a:r>
              <a:rPr baseline="-25000" lang="en" sz="1500">
                <a:solidFill>
                  <a:srgbClr val="262626"/>
                </a:solidFill>
                <a:latin typeface="Calibri"/>
              </a:rPr>
              <a:t>G3Math</a:t>
            </a:r>
            <a:r>
              <a:rPr lang="en" sz="1500">
                <a:solidFill>
                  <a:srgbClr val="262626"/>
                </a:solidFill>
                <a:latin typeface="Calibri"/>
              </a:rPr>
              <a:t> </a:t>
            </a:r>
            <a:endParaRPr sz="1600">
              <a:solidFill>
                <a:schemeClr val="dk1"/>
              </a:solidFill>
            </a:endParaRPr>
          </a:p>
          <a:p>
            <a:pPr indent="-228600" lvl="0" marL="342900" rtl="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rgbClr val="1F3A5F"/>
              </a:buClr>
              <a:buSzPct val="100000"/>
              <a:buFont typeface="Arial"/>
              <a:buChar char="•"/>
            </a:pPr>
            <a:r>
              <a:rPr lang="en" sz="1500">
                <a:solidFill>
                  <a:srgbClr val="262626"/>
                </a:solidFill>
                <a:latin typeface="Calibri"/>
              </a:rPr>
              <a:t>Plot the differences in value of each pair X</a:t>
            </a:r>
            <a:r>
              <a:rPr baseline="-25000" lang="en" sz="1500">
                <a:solidFill>
                  <a:srgbClr val="262626"/>
                </a:solidFill>
                <a:latin typeface="Calibri"/>
              </a:rPr>
              <a:t>i,G3Portuguese</a:t>
            </a:r>
            <a:r>
              <a:rPr lang="en" sz="1500">
                <a:solidFill>
                  <a:srgbClr val="262626"/>
                </a:solidFill>
                <a:latin typeface="Calibri"/>
              </a:rPr>
              <a:t> -  X</a:t>
            </a:r>
            <a:r>
              <a:rPr baseline="-25000" lang="en" sz="1500">
                <a:solidFill>
                  <a:srgbClr val="262626"/>
                </a:solidFill>
                <a:latin typeface="Calibri"/>
              </a:rPr>
              <a:t>i,G3Math</a:t>
            </a:r>
            <a:r>
              <a:rPr lang="en" sz="1500">
                <a:solidFill>
                  <a:srgbClr val="262626"/>
                </a:solidFill>
                <a:latin typeface="Calibri"/>
              </a:rPr>
              <a:t> against a Normal Probability QQ Line!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67" name="TextBox 166"/>
          <p:cNvSpPr txBox="1"/>
          <p:nvPr/>
        </p:nvSpPr>
        <p:spPr>
          <a:xfrm>
            <a:off x="402336" y="4736592"/>
            <a:ext cx="5486400" cy="274320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l"/>
            <a:r>
              <a:rPr sz="900">
                <a:solidFill>
                  <a:srgbClr val="5F6670"/>
                </a:solidFill>
                <a:latin typeface="Calibri"/>
              </a:rPr>
              <a:t>DATA 602  |  Student Academic Performance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7827264" y="4736592"/>
            <a:ext cx="914400" cy="274320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r"/>
            <a:r>
              <a:rPr sz="900">
                <a:solidFill>
                  <a:srgbClr val="5F667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5"/>
          <p:cNvSpPr txBox="1"/>
          <p:nvPr>
            <p:ph type="title"/>
          </p:nvPr>
        </p:nvSpPr>
        <p:spPr>
          <a:xfrm>
            <a:off x="310896" y="274320"/>
            <a:ext cx="8522208" cy="64008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2308"/>
              <a:buFont typeface="Arial"/>
              <a:buNone/>
            </a:pPr>
            <a:r>
              <a:rPr b="1" lang="en" sz="2400">
                <a:solidFill>
                  <a:srgbClr val="1F3A5F"/>
                </a:solidFill>
                <a:latin typeface="Calibri"/>
              </a:rPr>
              <a:t>Condition Checking : Approximation of Normality</a:t>
            </a:r>
            <a:endParaRPr/>
          </a:p>
        </p:txBody>
      </p:sp>
      <p:pic>
        <p:nvPicPr>
          <p:cNvPr id="172" name="Google Shape;172;p35" title="NormalProbPlot1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698" y="1152475"/>
            <a:ext cx="5529423" cy="34164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35"/>
          <p:cNvSpPr/>
          <p:nvPr/>
        </p:nvSpPr>
        <p:spPr>
          <a:xfrm>
            <a:off x="6293475" y="1271250"/>
            <a:ext cx="2458200" cy="1502700"/>
          </a:xfrm>
          <a:prstGeom prst="roundRect">
            <a:avLst>
              <a:gd fmla="val 16667" name="adj"/>
            </a:avLst>
          </a:prstGeom>
          <a:solidFill>
            <a:srgbClr val="F3F5F8"/>
          </a:solidFill>
          <a:ln cap="flat" cmpd="sng" w="9525">
            <a:solidFill>
              <a:srgbClr val="D5DAE1"/>
            </a:solidFill>
            <a:prstDash val="solid"/>
            <a:round/>
            <a:headEnd len="sm" w="sm" type="none"/>
            <a:tailEnd len="sm" w="sm" type="none"/>
          </a:ln>
          <a:effectLst/>
        </p:spPr>
        <p:txBody>
          <a:bodyPr anchorCtr="0" anchor="ctr" bIns="73152" lIns="109728" spcFirstLastPara="1" rIns="109728" wrap="square" tIns="73152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" sz="1200">
                <a:solidFill>
                  <a:srgbClr val="262626"/>
                </a:solidFill>
                <a:latin typeface="Calibri"/>
              </a:rPr>
              <a:t/>
            </a:r>
            <a:r>
              <a:rPr lang="en" sz="1200">
                <a:solidFill>
                  <a:srgbClr val="262626"/>
                </a:solidFill>
                <a:latin typeface="Calibri"/>
                <a:sym typeface="Calibri"/>
              </a:rPr>
              <a:t>On average these data points cluster around the mid-section of the y = x Normal probability line, approximately conforming to Normality.</a:t>
            </a:r>
            <a:endParaRPr/>
          </a:p>
        </p:txBody>
      </p:sp>
      <p:sp>
        <p:nvSpPr>
          <p:cNvPr id="174" name="Google Shape;174;p35"/>
          <p:cNvSpPr/>
          <p:nvPr/>
        </p:nvSpPr>
        <p:spPr>
          <a:xfrm>
            <a:off x="6293475" y="3027475"/>
            <a:ext cx="2458200" cy="1123800"/>
          </a:xfrm>
          <a:prstGeom prst="roundRect">
            <a:avLst>
              <a:gd fmla="val 16667" name="adj"/>
            </a:avLst>
          </a:prstGeom>
          <a:solidFill>
            <a:srgbClr val="F3F5F8"/>
          </a:solidFill>
          <a:ln cap="flat" cmpd="sng" w="9525">
            <a:solidFill>
              <a:srgbClr val="D5DAE1"/>
            </a:solidFill>
            <a:prstDash val="solid"/>
            <a:round/>
            <a:headEnd len="sm" w="sm" type="none"/>
            <a:tailEnd len="sm" w="sm" type="none"/>
          </a:ln>
          <a:effectLst/>
        </p:spPr>
        <p:txBody>
          <a:bodyPr anchorCtr="0" anchor="ctr" bIns="73152" lIns="109728" spcFirstLastPara="1" rIns="109728" wrap="square" tIns="73152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" sz="1200">
                <a:solidFill>
                  <a:srgbClr val="262626"/>
                </a:solidFill>
                <a:latin typeface="Calibri"/>
              </a:rPr>
              <a:t/>
            </a:r>
            <a:r>
              <a:rPr lang="en" sz="1200">
                <a:solidFill>
                  <a:srgbClr val="262626"/>
                </a:solidFill>
                <a:latin typeface="Calibri"/>
                <a:sym typeface="Calibri"/>
              </a:rPr>
              <a:t>The sample size is also n ≥ 25, 382 ≥ 25. So the robustness of the Central Limit </a:t>
            </a:r>
            <a:r>
              <a:rPr lang="en" sz="1200">
                <a:solidFill>
                  <a:srgbClr val="262626"/>
                </a:solidFill>
                <a:latin typeface="Calibri"/>
                <a:sym typeface="Calibri"/>
              </a:rPr>
              <a:t>Theorem (CLT) holds!</a:t>
            </a:r>
            <a:r>
              <a:rPr lang="en" sz="1200">
                <a:solidFill>
                  <a:srgbClr val="262626"/>
                </a:solidFill>
                <a:latin typeface="Calibri"/>
                <a:sym typeface="Calibri"/>
              </a:rPr>
              <a:t> </a:t>
            </a:r>
            <a:endParaRPr/>
          </a:p>
        </p:txBody>
      </p:sp>
      <p:sp>
        <p:nvSpPr>
          <p:cNvPr id="175" name="TextBox 174"/>
          <p:cNvSpPr txBox="1"/>
          <p:nvPr/>
        </p:nvSpPr>
        <p:spPr>
          <a:xfrm>
            <a:off x="402336" y="4736592"/>
            <a:ext cx="5486400" cy="274320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l"/>
            <a:r>
              <a:rPr sz="900">
                <a:solidFill>
                  <a:srgbClr val="5F6670"/>
                </a:solidFill>
                <a:latin typeface="Calibri"/>
              </a:rPr>
              <a:t>DATA 602  |  Student Academic Performance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827264" y="4736592"/>
            <a:ext cx="914400" cy="274320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r"/>
            <a:r>
              <a:rPr sz="900">
                <a:solidFill>
                  <a:srgbClr val="5F667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6"/>
          <p:cNvSpPr txBox="1"/>
          <p:nvPr>
            <p:ph type="title"/>
          </p:nvPr>
        </p:nvSpPr>
        <p:spPr>
          <a:xfrm>
            <a:off x="310896" y="274320"/>
            <a:ext cx="8522208" cy="64008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2308"/>
              <a:buFont typeface="Arial"/>
              <a:buNone/>
            </a:pPr>
            <a:r>
              <a:rPr b="1" lang="en" sz="2400">
                <a:solidFill>
                  <a:srgbClr val="1F3A5F"/>
                </a:solidFill>
                <a:latin typeface="Calibri"/>
              </a:rPr>
              <a:t>Condition Checking : Matched-Pairs Experimental Design</a:t>
            </a:r>
            <a:endParaRPr/>
          </a:p>
        </p:txBody>
      </p:sp>
      <p:sp>
        <p:nvSpPr>
          <p:cNvPr id="180" name="Google Shape;180;p36"/>
          <p:cNvSpPr txBox="1"/>
          <p:nvPr>
            <p:ph idx="1" type="body"/>
          </p:nvPr>
        </p:nvSpPr>
        <p:spPr>
          <a:xfrm>
            <a:off x="310896" y="1005840"/>
            <a:ext cx="8522208" cy="361188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3429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3A5F"/>
              </a:buClr>
              <a:buSzPct val="100000"/>
              <a:buFont typeface="Arial"/>
              <a:buChar char="•"/>
            </a:pPr>
            <a:r>
              <a:rPr lang="en" sz="1400">
                <a:solidFill>
                  <a:srgbClr val="262626"/>
                </a:solidFill>
                <a:latin typeface="Calibri"/>
              </a:rPr>
              <a:t>If the study and data collection method adheres to a Matched-Pairs Experimental Design, then:</a:t>
            </a:r>
            <a:endParaRPr sz="1600">
              <a:solidFill>
                <a:schemeClr val="dk1"/>
              </a:solidFill>
            </a:endParaRPr>
          </a:p>
          <a:p>
            <a:pPr indent="-228600" lvl="1" marL="68580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1F3A5F"/>
              </a:buClr>
              <a:buSzPct val="100000"/>
              <a:buFont typeface="Arial"/>
              <a:buChar char="–"/>
            </a:pPr>
            <a:r>
              <a:rPr lang="en" sz="1300" u="sng">
                <a:solidFill>
                  <a:srgbClr val="404040"/>
                </a:solidFill>
                <a:latin typeface="Calibri"/>
              </a:rPr>
              <a:t>Paired Observations</a:t>
            </a:r>
            <a:r>
              <a:rPr lang="en" sz="1300">
                <a:solidFill>
                  <a:srgbClr val="404040"/>
                </a:solidFill>
                <a:latin typeface="Calibri"/>
              </a:rPr>
              <a:t> : These data must </a:t>
            </a:r>
            <a:r>
              <a:rPr lang="en" sz="1300">
                <a:solidFill>
                  <a:srgbClr val="404040"/>
                </a:solidFill>
                <a:latin typeface="Calibri"/>
              </a:rPr>
              <a:t>correspond</a:t>
            </a:r>
            <a:r>
              <a:rPr lang="en" sz="1300">
                <a:solidFill>
                  <a:srgbClr val="404040"/>
                </a:solidFill>
                <a:latin typeface="Calibri"/>
              </a:rPr>
              <a:t> to the same student (same person) for each  </a:t>
            </a:r>
            <a:r>
              <a:rPr lang="en" sz="1300">
                <a:solidFill>
                  <a:srgbClr val="404040"/>
                </a:solidFill>
                <a:latin typeface="Calibri"/>
              </a:rPr>
              <a:t>X</a:t>
            </a:r>
            <a:r>
              <a:rPr baseline="-25000" lang="en" sz="1300">
                <a:solidFill>
                  <a:srgbClr val="404040"/>
                </a:solidFill>
                <a:latin typeface="Calibri"/>
              </a:rPr>
              <a:t>i,G3Portuguese</a:t>
            </a:r>
            <a:r>
              <a:rPr lang="en" sz="1300">
                <a:solidFill>
                  <a:srgbClr val="404040"/>
                </a:solidFill>
                <a:latin typeface="Calibri"/>
              </a:rPr>
              <a:t> and X</a:t>
            </a:r>
            <a:r>
              <a:rPr baseline="-25000" lang="en" sz="1300">
                <a:solidFill>
                  <a:srgbClr val="404040"/>
                </a:solidFill>
                <a:latin typeface="Calibri"/>
              </a:rPr>
              <a:t>i,G3Math</a:t>
            </a:r>
            <a:r>
              <a:rPr lang="en" sz="1300">
                <a:solidFill>
                  <a:srgbClr val="404040"/>
                </a:solidFill>
                <a:latin typeface="Calibri"/>
              </a:rPr>
              <a:t> , that is the Final Grade of the Portuguese class must come from the same student that also has a Final Grade in the Mathematics class.</a:t>
            </a:r>
            <a:endParaRPr sz="1600">
              <a:solidFill>
                <a:schemeClr val="dk1"/>
              </a:solidFill>
            </a:endParaRPr>
          </a:p>
          <a:p>
            <a:pPr indent="-228600" lvl="1" marL="68580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1F3A5F"/>
              </a:buClr>
              <a:buSzPct val="100000"/>
              <a:buFont typeface="Arial"/>
              <a:buChar char="–"/>
            </a:pPr>
            <a:r>
              <a:rPr lang="en" sz="1300" u="sng">
                <a:solidFill>
                  <a:srgbClr val="404040"/>
                </a:solidFill>
                <a:latin typeface="Calibri"/>
              </a:rPr>
              <a:t>Independence of Pairs from other Pairs</a:t>
            </a:r>
            <a:r>
              <a:rPr lang="en" sz="1300">
                <a:solidFill>
                  <a:srgbClr val="404040"/>
                </a:solidFill>
                <a:latin typeface="Calibri"/>
              </a:rPr>
              <a:t>: A student’s paired Final Grades should not influence or predict another student’s paired Final Grades</a:t>
            </a:r>
            <a:endParaRPr sz="1600">
              <a:solidFill>
                <a:schemeClr val="dk1"/>
              </a:solidFill>
            </a:endParaRPr>
          </a:p>
          <a:p>
            <a:pPr indent="-228600" lvl="1" marL="68580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1F3A5F"/>
              </a:buClr>
              <a:buSzPct val="100000"/>
              <a:buFont typeface="Arial"/>
              <a:buChar char="–"/>
            </a:pPr>
            <a:r>
              <a:rPr lang="en" sz="1300" u="sng">
                <a:solidFill>
                  <a:srgbClr val="404040"/>
                </a:solidFill>
                <a:latin typeface="Calibri"/>
              </a:rPr>
              <a:t>Random Sampling</a:t>
            </a:r>
            <a:r>
              <a:rPr lang="en" sz="1300">
                <a:solidFill>
                  <a:srgbClr val="404040"/>
                </a:solidFill>
                <a:latin typeface="Calibri"/>
              </a:rPr>
              <a:t>: Each of the n = 382 pairs should be randomly selected out of the population</a:t>
            </a:r>
            <a:endParaRPr sz="1600">
              <a:solidFill>
                <a:schemeClr val="dk1"/>
              </a:solidFill>
            </a:endParaRPr>
          </a:p>
          <a:p>
            <a:pPr indent="-228600" lvl="1" marL="68580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1F3A5F"/>
              </a:buClr>
              <a:buSzPct val="100000"/>
              <a:buFont typeface="Arial"/>
              <a:buChar char="–"/>
            </a:pPr>
            <a:r>
              <a:rPr lang="en" sz="1300">
                <a:solidFill>
                  <a:srgbClr val="404040"/>
                </a:solidFill>
                <a:latin typeface="Calibri"/>
              </a:rPr>
              <a:t>The adherence of the data collected during the 2005–2006 school year by P. Cortez &amp; A. M. G. Silva. to a Matched-Pairs Experimental Design was proven in their academic paper published on April 1st , 2008.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81" name="TextBox 180"/>
          <p:cNvSpPr txBox="1"/>
          <p:nvPr/>
        </p:nvSpPr>
        <p:spPr>
          <a:xfrm>
            <a:off x="402336" y="4736592"/>
            <a:ext cx="5486400" cy="274320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l"/>
            <a:r>
              <a:rPr sz="900">
                <a:solidFill>
                  <a:srgbClr val="5F6670"/>
                </a:solidFill>
                <a:latin typeface="Calibri"/>
              </a:rPr>
              <a:t>DATA 602  |  Student Academic Performance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7827264" y="4736592"/>
            <a:ext cx="914400" cy="274320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r"/>
            <a:r>
              <a:rPr sz="900">
                <a:solidFill>
                  <a:srgbClr val="5F667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7"/>
          <p:cNvSpPr txBox="1"/>
          <p:nvPr>
            <p:ph type="title"/>
          </p:nvPr>
        </p:nvSpPr>
        <p:spPr>
          <a:xfrm>
            <a:off x="914400" y="1325880"/>
            <a:ext cx="7315200" cy="237744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3200">
                <a:solidFill>
                  <a:srgbClr val="1F3A5F"/>
                </a:solidFill>
                <a:latin typeface="Calibri"/>
              </a:rPr>
              <a:t>Statistical Method #1</a:t>
            </a:r>
            <a:endParaRPr b="1">
              <a:solidFill>
                <a:srgbClr val="23395B"/>
              </a:solidFill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5F6670"/>
                </a:solidFill>
                <a:latin typeface="Calibri"/>
              </a:rPr>
              <a:t/>
            </a:r>
            <a:endParaRPr/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0">
                <a:solidFill>
                  <a:srgbClr val="5F6670"/>
                </a:solidFill>
                <a:latin typeface="Calibri"/>
                <a:sym typeface="Calibri"/>
              </a:rPr>
              <a:t>Paired t-Test to C</a:t>
            </a:r>
            <a:r>
              <a:rPr lang="en" sz="1600" b="0">
                <a:solidFill>
                  <a:srgbClr val="5F6670"/>
                </a:solidFill>
                <a:latin typeface="Calibri"/>
                <a:sym typeface="Calibri"/>
              </a:rPr>
              <a:t>ompare the Difference in Portuguese and Mathematics Final Grades Along with a Confidence Interval</a:t>
            </a:r>
            <a:r>
              <a:rPr lang="en" sz="1600" b="0">
                <a:solidFill>
                  <a:srgbClr val="5F6670"/>
                </a:solidFill>
                <a:latin typeface="Calibri"/>
                <a:sym typeface="Calibri"/>
              </a:rPr>
              <a:t> (Conventional and Bootstrap) for the Grade Difference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8"/>
          <p:cNvSpPr txBox="1"/>
          <p:nvPr>
            <p:ph type="title"/>
          </p:nvPr>
        </p:nvSpPr>
        <p:spPr>
          <a:xfrm>
            <a:off x="310896" y="274320"/>
            <a:ext cx="8522208" cy="64008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1F3A5F"/>
                </a:solidFill>
                <a:latin typeface="Calibri"/>
              </a:rPr>
              <a:t>Statistical Hypothesis</a:t>
            </a:r>
            <a:endParaRPr b="1">
              <a:solidFill>
                <a:srgbClr val="23395B"/>
              </a:solidFill>
            </a:endParaRPr>
          </a:p>
        </p:txBody>
      </p:sp>
      <p:sp>
        <p:nvSpPr>
          <p:cNvPr id="191" name="Google Shape;191;p38"/>
          <p:cNvSpPr txBox="1"/>
          <p:nvPr>
            <p:ph idx="1" type="body"/>
          </p:nvPr>
        </p:nvSpPr>
        <p:spPr>
          <a:xfrm>
            <a:off x="310896" y="1005840"/>
            <a:ext cx="8522208" cy="361188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262626"/>
                </a:solidFill>
                <a:latin typeface="Calibri"/>
                <a:sym typeface="Calibri"/>
              </a:rPr>
              <a:t>Does the data suggest that out of the students who take both final exams, are the average final grades higher in Portuguese class than Mathematics class?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262626"/>
                </a:solidFill>
                <a:latin typeface="Calibri"/>
                <a:sym typeface="Calibri"/>
              </a:rPr>
              <a:t>Let </a:t>
            </a:r>
            <a:r>
              <a:rPr lang="en" sz="1500">
                <a:solidFill>
                  <a:srgbClr val="262626"/>
                </a:solidFill>
                <a:latin typeface="Calibri"/>
                <a:sym typeface="Calibri"/>
              </a:rPr>
              <a:t>μ</a:t>
            </a:r>
            <a:r>
              <a:rPr baseline="-25000" lang="en" sz="1500">
                <a:solidFill>
                  <a:srgbClr val="262626"/>
                </a:solidFill>
                <a:latin typeface="Calibri"/>
                <a:sym typeface="Calibri"/>
              </a:rPr>
              <a:t>G3Portuguese</a:t>
            </a:r>
            <a:r>
              <a:rPr lang="en" sz="1500">
                <a:solidFill>
                  <a:srgbClr val="262626"/>
                </a:solidFill>
                <a:latin typeface="Calibri"/>
                <a:sym typeface="Calibri"/>
              </a:rPr>
              <a:t> be the average Portuguese Class Final Exam Grade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262626"/>
                </a:solidFill>
                <a:latin typeface="Calibri"/>
                <a:sym typeface="Calibri"/>
              </a:rPr>
              <a:t>Let </a:t>
            </a:r>
            <a:r>
              <a:rPr lang="en" sz="1500">
                <a:solidFill>
                  <a:srgbClr val="262626"/>
                </a:solidFill>
                <a:latin typeface="Calibri"/>
                <a:sym typeface="Calibri"/>
              </a:rPr>
              <a:t>μ</a:t>
            </a:r>
            <a:r>
              <a:rPr baseline="-25000" lang="en" sz="1500">
                <a:solidFill>
                  <a:srgbClr val="262626"/>
                </a:solidFill>
                <a:latin typeface="Calibri"/>
                <a:sym typeface="Calibri"/>
              </a:rPr>
              <a:t>G3Math</a:t>
            </a:r>
            <a:r>
              <a:rPr lang="en" sz="1500">
                <a:solidFill>
                  <a:srgbClr val="262626"/>
                </a:solidFill>
                <a:latin typeface="Calibri"/>
                <a:sym typeface="Calibri"/>
              </a:rPr>
              <a:t> be the average Math Class Final Exam Grade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262626"/>
                </a:solidFill>
                <a:latin typeface="Calibri"/>
                <a:sym typeface="Calibri"/>
              </a:rPr>
              <a:t>Let</a:t>
            </a:r>
            <a:r>
              <a:rPr lang="en" sz="1500">
                <a:solidFill>
                  <a:srgbClr val="262626"/>
                </a:solidFill>
                <a:latin typeface="Calibri"/>
                <a:sym typeface="Calibri"/>
              </a:rPr>
              <a:t> μ</a:t>
            </a:r>
            <a:r>
              <a:rPr baseline="-25000" lang="en" sz="1500">
                <a:solidFill>
                  <a:srgbClr val="262626"/>
                </a:solidFill>
                <a:latin typeface="Calibri"/>
                <a:sym typeface="Calibri"/>
              </a:rPr>
              <a:t>d</a:t>
            </a:r>
            <a:r>
              <a:rPr lang="en" sz="1500">
                <a:solidFill>
                  <a:srgbClr val="262626"/>
                </a:solidFill>
                <a:latin typeface="Calibri"/>
                <a:sym typeface="Calibri"/>
              </a:rPr>
              <a:t> </a:t>
            </a:r>
            <a:r>
              <a:rPr lang="en" sz="1500">
                <a:solidFill>
                  <a:srgbClr val="262626"/>
                </a:solidFill>
                <a:latin typeface="Calibri"/>
                <a:sym typeface="Calibri"/>
              </a:rPr>
              <a:t>be the average difference in Language and Math final exam grades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342900" rtl="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rgbClr val="1F3A5F"/>
              </a:buClr>
              <a:buSzPct val="100000"/>
              <a:buFont typeface="Arial"/>
              <a:buChar char="•"/>
            </a:pPr>
            <a:r>
              <a:rPr lang="en" sz="1500">
                <a:solidFill>
                  <a:srgbClr val="262626"/>
                </a:solidFill>
                <a:latin typeface="Calibri"/>
                <a:sym typeface="Calibri"/>
              </a:rPr>
              <a:t>H</a:t>
            </a:r>
            <a:r>
              <a:rPr baseline="-25000" lang="en" sz="1500">
                <a:solidFill>
                  <a:srgbClr val="262626"/>
                </a:solidFill>
                <a:latin typeface="Calibri"/>
                <a:sym typeface="Calibri"/>
              </a:rPr>
              <a:t>0</a:t>
            </a:r>
            <a:r>
              <a:rPr lang="en" sz="1500">
                <a:solidFill>
                  <a:srgbClr val="262626"/>
                </a:solidFill>
                <a:latin typeface="Calibri"/>
                <a:sym typeface="Calibri"/>
              </a:rPr>
              <a:t>: </a:t>
            </a:r>
            <a:r>
              <a:rPr lang="en" sz="1500">
                <a:solidFill>
                  <a:srgbClr val="262626"/>
                </a:solidFill>
                <a:latin typeface="Calibri"/>
                <a:sym typeface="Calibri"/>
              </a:rPr>
              <a:t>μ</a:t>
            </a:r>
            <a:r>
              <a:rPr baseline="-25000" lang="en" sz="1500">
                <a:solidFill>
                  <a:srgbClr val="262626"/>
                </a:solidFill>
                <a:latin typeface="Calibri"/>
                <a:sym typeface="Calibri"/>
              </a:rPr>
              <a:t>G3Portugese</a:t>
            </a:r>
            <a:r>
              <a:rPr lang="en" sz="1500">
                <a:solidFill>
                  <a:srgbClr val="262626"/>
                </a:solidFill>
                <a:latin typeface="Calibri"/>
                <a:sym typeface="Calibri"/>
              </a:rPr>
              <a:t> ≤ μ</a:t>
            </a:r>
            <a:r>
              <a:rPr baseline="-25000" lang="en" sz="1500">
                <a:solidFill>
                  <a:srgbClr val="262626"/>
                </a:solidFill>
                <a:latin typeface="Calibri"/>
                <a:sym typeface="Calibri"/>
              </a:rPr>
              <a:t>G3Math</a:t>
            </a:r>
            <a:r>
              <a:rPr lang="en" sz="1500">
                <a:solidFill>
                  <a:srgbClr val="262626"/>
                </a:solidFill>
                <a:latin typeface="Calibri"/>
                <a:sym typeface="Calibri"/>
              </a:rPr>
              <a:t> ; μ</a:t>
            </a:r>
            <a:r>
              <a:rPr baseline="-25000" lang="en" sz="1500">
                <a:solidFill>
                  <a:srgbClr val="262626"/>
                </a:solidFill>
                <a:latin typeface="Calibri"/>
                <a:sym typeface="Calibri"/>
              </a:rPr>
              <a:t>G3Portugese </a:t>
            </a:r>
            <a:r>
              <a:rPr lang="en" sz="1500">
                <a:solidFill>
                  <a:srgbClr val="262626"/>
                </a:solidFill>
                <a:latin typeface="Calibri"/>
                <a:sym typeface="Calibri"/>
              </a:rPr>
              <a:t>- μ</a:t>
            </a:r>
            <a:r>
              <a:rPr baseline="-25000" lang="en" sz="1500">
                <a:solidFill>
                  <a:srgbClr val="262626"/>
                </a:solidFill>
                <a:latin typeface="Calibri"/>
                <a:sym typeface="Calibri"/>
              </a:rPr>
              <a:t>G3Math</a:t>
            </a:r>
            <a:r>
              <a:rPr lang="en" sz="1500">
                <a:solidFill>
                  <a:srgbClr val="262626"/>
                </a:solidFill>
                <a:latin typeface="Calibri"/>
                <a:sym typeface="Calibri"/>
              </a:rPr>
              <a:t> ≤ 0 ; μ</a:t>
            </a:r>
            <a:r>
              <a:rPr baseline="-25000" lang="en" sz="1500">
                <a:solidFill>
                  <a:srgbClr val="262626"/>
                </a:solidFill>
                <a:latin typeface="Calibri"/>
                <a:sym typeface="Calibri"/>
              </a:rPr>
              <a:t>d</a:t>
            </a:r>
            <a:r>
              <a:rPr lang="en" sz="1500">
                <a:solidFill>
                  <a:srgbClr val="262626"/>
                </a:solidFill>
                <a:latin typeface="Calibri"/>
                <a:sym typeface="Calibri"/>
              </a:rPr>
              <a:t> ≤ 0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342900" rtl="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rgbClr val="1F3A5F"/>
              </a:buClr>
              <a:buSzPct val="100000"/>
              <a:buFont typeface="Arial"/>
              <a:buChar char="•"/>
            </a:pPr>
            <a:r>
              <a:rPr lang="en" sz="1500">
                <a:solidFill>
                  <a:srgbClr val="262626"/>
                </a:solidFill>
                <a:latin typeface="Calibri"/>
                <a:sym typeface="Calibri"/>
              </a:rPr>
              <a:t>H</a:t>
            </a:r>
            <a:r>
              <a:rPr baseline="-25000" lang="en" sz="1500">
                <a:solidFill>
                  <a:srgbClr val="262626"/>
                </a:solidFill>
                <a:latin typeface="Calibri"/>
                <a:sym typeface="Calibri"/>
              </a:rPr>
              <a:t>A</a:t>
            </a:r>
            <a:r>
              <a:rPr lang="en" sz="1500">
                <a:solidFill>
                  <a:srgbClr val="262626"/>
                </a:solidFill>
                <a:latin typeface="Calibri"/>
                <a:sym typeface="Calibri"/>
              </a:rPr>
              <a:t>: μ</a:t>
            </a:r>
            <a:r>
              <a:rPr baseline="-25000" lang="en" sz="1500">
                <a:solidFill>
                  <a:srgbClr val="262626"/>
                </a:solidFill>
                <a:latin typeface="Calibri"/>
                <a:sym typeface="Calibri"/>
              </a:rPr>
              <a:t>G3Portugese</a:t>
            </a:r>
            <a:r>
              <a:rPr lang="en" sz="1500">
                <a:solidFill>
                  <a:srgbClr val="262626"/>
                </a:solidFill>
                <a:latin typeface="Calibri"/>
                <a:sym typeface="Calibri"/>
              </a:rPr>
              <a:t> &gt; μ</a:t>
            </a:r>
            <a:r>
              <a:rPr baseline="-25000" lang="en" sz="1500">
                <a:solidFill>
                  <a:srgbClr val="262626"/>
                </a:solidFill>
                <a:latin typeface="Calibri"/>
                <a:sym typeface="Calibri"/>
              </a:rPr>
              <a:t>G3Math</a:t>
            </a:r>
            <a:r>
              <a:rPr lang="en" sz="1500">
                <a:solidFill>
                  <a:srgbClr val="262626"/>
                </a:solidFill>
                <a:latin typeface="Calibri"/>
                <a:sym typeface="Calibri"/>
              </a:rPr>
              <a:t> ; μ</a:t>
            </a:r>
            <a:r>
              <a:rPr baseline="-25000" lang="en" sz="1500">
                <a:solidFill>
                  <a:srgbClr val="262626"/>
                </a:solidFill>
                <a:latin typeface="Calibri"/>
                <a:sym typeface="Calibri"/>
              </a:rPr>
              <a:t>G3Portugese</a:t>
            </a:r>
            <a:r>
              <a:rPr lang="en" sz="1500">
                <a:solidFill>
                  <a:srgbClr val="262626"/>
                </a:solidFill>
                <a:latin typeface="Calibri"/>
                <a:sym typeface="Calibri"/>
              </a:rPr>
              <a:t> - μ</a:t>
            </a:r>
            <a:r>
              <a:rPr baseline="-25000" lang="en" sz="1500">
                <a:solidFill>
                  <a:srgbClr val="262626"/>
                </a:solidFill>
                <a:latin typeface="Calibri"/>
                <a:sym typeface="Calibri"/>
              </a:rPr>
              <a:t>G3Math</a:t>
            </a:r>
            <a:r>
              <a:rPr lang="en" sz="1500">
                <a:solidFill>
                  <a:srgbClr val="262626"/>
                </a:solidFill>
                <a:latin typeface="Calibri"/>
                <a:sym typeface="Calibri"/>
              </a:rPr>
              <a:t> &gt; 0, μ</a:t>
            </a:r>
            <a:r>
              <a:rPr baseline="-25000" lang="en" sz="1500">
                <a:solidFill>
                  <a:srgbClr val="262626"/>
                </a:solidFill>
                <a:latin typeface="Calibri"/>
                <a:sym typeface="Calibri"/>
              </a:rPr>
              <a:t>d</a:t>
            </a:r>
            <a:r>
              <a:rPr lang="en" sz="1500">
                <a:solidFill>
                  <a:srgbClr val="262626"/>
                </a:solidFill>
                <a:latin typeface="Calibri"/>
                <a:sym typeface="Calibri"/>
              </a:rPr>
              <a:t> &gt; 0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TextBox 191"/>
          <p:cNvSpPr txBox="1"/>
          <p:nvPr/>
        </p:nvSpPr>
        <p:spPr>
          <a:xfrm>
            <a:off x="402336" y="4736592"/>
            <a:ext cx="5486400" cy="274320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l"/>
            <a:r>
              <a:rPr sz="900">
                <a:solidFill>
                  <a:srgbClr val="5F6670"/>
                </a:solidFill>
                <a:latin typeface="Calibri"/>
              </a:rPr>
              <a:t>DATA 602  |  Student Academic Performance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7827264" y="4736592"/>
            <a:ext cx="914400" cy="274320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r"/>
            <a:r>
              <a:rPr sz="900">
                <a:solidFill>
                  <a:srgbClr val="5F6670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9"/>
          <p:cNvSpPr txBox="1"/>
          <p:nvPr>
            <p:ph type="title"/>
          </p:nvPr>
        </p:nvSpPr>
        <p:spPr>
          <a:xfrm>
            <a:off x="310896" y="274320"/>
            <a:ext cx="8522208" cy="64008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1F3A5F"/>
                </a:solidFill>
                <a:latin typeface="Calibri"/>
              </a:rPr>
              <a:t>Test Statistic</a:t>
            </a:r>
            <a:endParaRPr b="1">
              <a:solidFill>
                <a:srgbClr val="23395B"/>
              </a:solidFill>
            </a:endParaRPr>
          </a:p>
        </p:txBody>
      </p:sp>
      <p:sp>
        <p:nvSpPr>
          <p:cNvPr id="197" name="Google Shape;197;p39"/>
          <p:cNvSpPr txBox="1"/>
          <p:nvPr>
            <p:ph idx="1" type="body"/>
          </p:nvPr>
        </p:nvSpPr>
        <p:spPr>
          <a:xfrm>
            <a:off x="310896" y="1005840"/>
            <a:ext cx="8522208" cy="361188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262626"/>
                </a:solidFill>
                <a:latin typeface="Calibri"/>
                <a:sym typeface="Calibri"/>
              </a:rPr>
              <a:t>T</a:t>
            </a:r>
            <a:r>
              <a:rPr baseline="-25000" lang="en" sz="1400">
                <a:solidFill>
                  <a:srgbClr val="262626"/>
                </a:solidFill>
                <a:latin typeface="Calibri"/>
                <a:sym typeface="Calibri"/>
              </a:rPr>
              <a:t>Obs</a:t>
            </a:r>
            <a:r>
              <a:rPr lang="en" sz="1400">
                <a:solidFill>
                  <a:srgbClr val="262626"/>
                </a:solidFill>
                <a:latin typeface="Calibri"/>
                <a:sym typeface="Calibri"/>
              </a:rPr>
              <a:t> = (X</a:t>
            </a:r>
            <a:r>
              <a:rPr baseline="-25000" lang="en" sz="1400">
                <a:solidFill>
                  <a:srgbClr val="262626"/>
                </a:solidFill>
                <a:latin typeface="Calibri"/>
                <a:sym typeface="Calibri"/>
              </a:rPr>
              <a:t>d</a:t>
            </a:r>
            <a:r>
              <a:rPr lang="en" sz="1400">
                <a:solidFill>
                  <a:srgbClr val="262626"/>
                </a:solidFill>
                <a:latin typeface="Calibri"/>
                <a:sym typeface="Calibri"/>
              </a:rPr>
              <a:t> - </a:t>
            </a:r>
            <a:r>
              <a:rPr lang="en" sz="1400">
                <a:solidFill>
                  <a:srgbClr val="262626"/>
                </a:solidFill>
                <a:latin typeface="Calibri"/>
                <a:sym typeface="Calibri"/>
              </a:rPr>
              <a:t>μ</a:t>
            </a:r>
            <a:r>
              <a:rPr baseline="-25000" lang="en" sz="1400">
                <a:solidFill>
                  <a:srgbClr val="262626"/>
                </a:solidFill>
                <a:latin typeface="Calibri"/>
                <a:sym typeface="Calibri"/>
              </a:rPr>
              <a:t>d</a:t>
            </a:r>
            <a:r>
              <a:rPr lang="en" sz="1400">
                <a:solidFill>
                  <a:srgbClr val="262626"/>
                </a:solidFill>
                <a:latin typeface="Calibri"/>
                <a:sym typeface="Calibri"/>
              </a:rPr>
              <a:t>)</a:t>
            </a:r>
            <a:r>
              <a:rPr baseline="-25000" lang="en" sz="1400">
                <a:solidFill>
                  <a:srgbClr val="262626"/>
                </a:solidFill>
                <a:latin typeface="Calibri"/>
                <a:sym typeface="Calibri"/>
              </a:rPr>
              <a:t> </a:t>
            </a:r>
            <a:r>
              <a:rPr lang="en" sz="1400">
                <a:solidFill>
                  <a:srgbClr val="262626"/>
                </a:solidFill>
                <a:latin typeface="Calibri"/>
                <a:sym typeface="Calibri"/>
              </a:rPr>
              <a:t>/(S</a:t>
            </a:r>
            <a:r>
              <a:rPr baseline="-25000" lang="en" sz="1400">
                <a:solidFill>
                  <a:srgbClr val="262626"/>
                </a:solidFill>
                <a:latin typeface="Calibri"/>
                <a:sym typeface="Calibri"/>
              </a:rPr>
              <a:t>d</a:t>
            </a:r>
            <a:r>
              <a:rPr lang="en" sz="1400">
                <a:solidFill>
                  <a:srgbClr val="262626"/>
                </a:solidFill>
                <a:latin typeface="Calibri"/>
                <a:sym typeface="Calibri"/>
              </a:rPr>
              <a:t>/√n)</a:t>
            </a:r>
            <a:endParaRPr sz="6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1400">
                <a:solidFill>
                  <a:srgbClr val="262626"/>
                </a:solidFill>
                <a:latin typeface="Calibri"/>
                <a:sym typeface="Calibri"/>
              </a:rPr>
              <a:t>X</a:t>
            </a:r>
            <a:r>
              <a:rPr baseline="-25000" lang="en" sz="1400">
                <a:solidFill>
                  <a:srgbClr val="262626"/>
                </a:solidFill>
                <a:latin typeface="Calibri"/>
                <a:sym typeface="Calibri"/>
              </a:rPr>
              <a:t>d</a:t>
            </a:r>
            <a:r>
              <a:rPr lang="en" sz="1400">
                <a:solidFill>
                  <a:srgbClr val="262626"/>
                </a:solidFill>
                <a:latin typeface="Calibri"/>
                <a:sym typeface="Calibri"/>
              </a:rPr>
              <a:t> is the observed average difference in Language and Math final exam grades</a:t>
            </a:r>
            <a:endParaRPr sz="6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1400">
                <a:solidFill>
                  <a:srgbClr val="262626"/>
                </a:solidFill>
                <a:latin typeface="Calibri"/>
                <a:sym typeface="Calibri"/>
              </a:rPr>
              <a:t>μ</a:t>
            </a:r>
            <a:r>
              <a:rPr baseline="-25000" lang="en" sz="1400">
                <a:solidFill>
                  <a:srgbClr val="262626"/>
                </a:solidFill>
                <a:latin typeface="Calibri"/>
                <a:sym typeface="Calibri"/>
              </a:rPr>
              <a:t>d</a:t>
            </a:r>
            <a:r>
              <a:rPr lang="en" sz="1400">
                <a:solidFill>
                  <a:srgbClr val="262626"/>
                </a:solidFill>
                <a:latin typeface="Calibri"/>
                <a:sym typeface="Calibri"/>
              </a:rPr>
              <a:t> </a:t>
            </a:r>
            <a:r>
              <a:rPr lang="en" sz="1400">
                <a:solidFill>
                  <a:srgbClr val="262626"/>
                </a:solidFill>
                <a:latin typeface="Calibri"/>
                <a:sym typeface="Calibri"/>
              </a:rPr>
              <a:t>is the value of the average difference in Language and Math final exam grades if the null hypothesis is true.</a:t>
            </a:r>
            <a:endParaRPr sz="6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1400">
                <a:solidFill>
                  <a:srgbClr val="262626"/>
                </a:solidFill>
                <a:latin typeface="Calibri"/>
                <a:sym typeface="Calibri"/>
              </a:rPr>
              <a:t>S</a:t>
            </a:r>
            <a:r>
              <a:rPr baseline="-25000" lang="en" sz="1400">
                <a:solidFill>
                  <a:srgbClr val="262626"/>
                </a:solidFill>
                <a:latin typeface="Calibri"/>
                <a:sym typeface="Calibri"/>
              </a:rPr>
              <a:t>d</a:t>
            </a:r>
            <a:r>
              <a:rPr lang="en" sz="1400">
                <a:solidFill>
                  <a:srgbClr val="262626"/>
                </a:solidFill>
                <a:latin typeface="Calibri"/>
                <a:sym typeface="Calibri"/>
              </a:rPr>
              <a:t> is the standard deviation of the difference in Language and Math Final exam grades.</a:t>
            </a:r>
            <a:endParaRPr sz="6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1400">
                <a:solidFill>
                  <a:srgbClr val="262626"/>
                </a:solidFill>
                <a:latin typeface="Calibri"/>
                <a:sym typeface="Calibri"/>
              </a:rPr>
              <a:t>n is the number of observations.</a:t>
            </a:r>
            <a:endParaRPr sz="6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262626"/>
                </a:solidFill>
                <a:latin typeface="Calibri"/>
                <a:sym typeface="Calibri"/>
              </a:rPr>
              <a:t>X</a:t>
            </a:r>
            <a:r>
              <a:rPr baseline="-25000" lang="en" sz="1400">
                <a:solidFill>
                  <a:srgbClr val="262626"/>
                </a:solidFill>
                <a:latin typeface="Calibri"/>
                <a:sym typeface="Calibri"/>
              </a:rPr>
              <a:t>d</a:t>
            </a:r>
            <a:r>
              <a:rPr lang="en" sz="1400">
                <a:solidFill>
                  <a:srgbClr val="262626"/>
                </a:solidFill>
                <a:latin typeface="Calibri"/>
                <a:sym typeface="Calibri"/>
              </a:rPr>
              <a:t> = 2.128272</a:t>
            </a:r>
            <a:endParaRPr sz="6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262626"/>
                </a:solidFill>
                <a:latin typeface="Calibri"/>
                <a:sym typeface="Calibri"/>
              </a:rPr>
              <a:t>μ</a:t>
            </a:r>
            <a:r>
              <a:rPr baseline="-25000" lang="en" sz="1400">
                <a:solidFill>
                  <a:srgbClr val="262626"/>
                </a:solidFill>
                <a:latin typeface="Calibri"/>
                <a:sym typeface="Calibri"/>
              </a:rPr>
              <a:t>d</a:t>
            </a:r>
            <a:r>
              <a:rPr lang="en" sz="1400">
                <a:solidFill>
                  <a:srgbClr val="262626"/>
                </a:solidFill>
                <a:latin typeface="Calibri"/>
                <a:sym typeface="Calibri"/>
              </a:rPr>
              <a:t> = 0</a:t>
            </a:r>
            <a:endParaRPr sz="6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262626"/>
                </a:solidFill>
                <a:latin typeface="Calibri"/>
                <a:sym typeface="Calibri"/>
              </a:rPr>
              <a:t>S</a:t>
            </a:r>
            <a:r>
              <a:rPr baseline="-25000" lang="en" sz="1400">
                <a:solidFill>
                  <a:srgbClr val="262626"/>
                </a:solidFill>
                <a:latin typeface="Calibri"/>
                <a:sym typeface="Calibri"/>
              </a:rPr>
              <a:t>d</a:t>
            </a:r>
            <a:r>
              <a:rPr lang="en" sz="1400">
                <a:solidFill>
                  <a:srgbClr val="262626"/>
                </a:solidFill>
                <a:latin typeface="Calibri"/>
                <a:sym typeface="Calibri"/>
              </a:rPr>
              <a:t> = 4.169227</a:t>
            </a:r>
            <a:endParaRPr sz="6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262626"/>
                </a:solidFill>
                <a:latin typeface="Calibri"/>
                <a:sym typeface="Calibri"/>
              </a:rPr>
              <a:t>n = 382</a:t>
            </a:r>
            <a:endParaRPr sz="6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262626"/>
                </a:solidFill>
                <a:latin typeface="Calibri"/>
                <a:sym typeface="Calibri"/>
              </a:rPr>
              <a:t>T</a:t>
            </a:r>
            <a:r>
              <a:rPr baseline="-25000" lang="en" sz="1400">
                <a:solidFill>
                  <a:srgbClr val="262626"/>
                </a:solidFill>
                <a:latin typeface="Calibri"/>
                <a:sym typeface="Calibri"/>
              </a:rPr>
              <a:t>Obs</a:t>
            </a:r>
            <a:r>
              <a:rPr lang="en" sz="1400">
                <a:solidFill>
                  <a:srgbClr val="262626"/>
                </a:solidFill>
                <a:latin typeface="Calibri"/>
                <a:sym typeface="Calibri"/>
              </a:rPr>
              <a:t> = 9.977077 </a:t>
            </a:r>
            <a:endParaRPr sz="6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TextBox 197"/>
          <p:cNvSpPr txBox="1"/>
          <p:nvPr/>
        </p:nvSpPr>
        <p:spPr>
          <a:xfrm>
            <a:off x="402336" y="4736592"/>
            <a:ext cx="5486400" cy="274320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l"/>
            <a:r>
              <a:rPr sz="900">
                <a:solidFill>
                  <a:srgbClr val="5F6670"/>
                </a:solidFill>
                <a:latin typeface="Calibri"/>
              </a:rPr>
              <a:t>DATA 602  |  Student Academic Performance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7827264" y="4736592"/>
            <a:ext cx="914400" cy="274320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r"/>
            <a:r>
              <a:rPr sz="900">
                <a:solidFill>
                  <a:srgbClr val="5F6670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40"/>
          <p:cNvSpPr txBox="1"/>
          <p:nvPr>
            <p:ph type="title"/>
          </p:nvPr>
        </p:nvSpPr>
        <p:spPr>
          <a:xfrm>
            <a:off x="310896" y="274320"/>
            <a:ext cx="8522208" cy="64008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1F3A5F"/>
                </a:solidFill>
                <a:latin typeface="Calibri"/>
              </a:rPr>
              <a:t>P-Value</a:t>
            </a:r>
            <a:endParaRPr b="1">
              <a:solidFill>
                <a:srgbClr val="23395B"/>
              </a:solidFill>
            </a:endParaRPr>
          </a:p>
        </p:txBody>
      </p:sp>
      <p:sp>
        <p:nvSpPr>
          <p:cNvPr id="203" name="Google Shape;203;p40"/>
          <p:cNvSpPr txBox="1"/>
          <p:nvPr>
            <p:ph idx="1" type="body"/>
          </p:nvPr>
        </p:nvSpPr>
        <p:spPr>
          <a:xfrm>
            <a:off x="310896" y="1005840"/>
            <a:ext cx="8522208" cy="361188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262626"/>
                </a:solidFill>
                <a:latin typeface="Calibri"/>
                <a:sym typeface="Calibri"/>
              </a:rPr>
              <a:t>This is a right-tailed test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262626"/>
                </a:solidFill>
                <a:latin typeface="Calibri"/>
                <a:sym typeface="Calibri"/>
              </a:rPr>
              <a:t>P-Value = P(T</a:t>
            </a:r>
            <a:r>
              <a:rPr baseline="-25000" lang="en" sz="1600">
                <a:solidFill>
                  <a:srgbClr val="262626"/>
                </a:solidFill>
                <a:latin typeface="Calibri"/>
                <a:sym typeface="Calibri"/>
              </a:rPr>
              <a:t>381 </a:t>
            </a:r>
            <a:r>
              <a:rPr lang="en" sz="1600">
                <a:solidFill>
                  <a:srgbClr val="262626"/>
                </a:solidFill>
                <a:latin typeface="Calibri"/>
                <a:sym typeface="Calibri"/>
              </a:rPr>
              <a:t>&gt; 9.977077)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262626"/>
                </a:solidFill>
                <a:latin typeface="Calibri"/>
                <a:sym typeface="Calibri"/>
              </a:rPr>
              <a:t>= 1 - </a:t>
            </a:r>
            <a:r>
              <a:rPr lang="en" sz="1600">
                <a:solidFill>
                  <a:srgbClr val="262626"/>
                </a:solidFill>
                <a:latin typeface="Calibri"/>
                <a:sym typeface="Calibri"/>
              </a:rPr>
              <a:t>P(T</a:t>
            </a:r>
            <a:r>
              <a:rPr baseline="-25000" lang="en" sz="1600">
                <a:solidFill>
                  <a:srgbClr val="262626"/>
                </a:solidFill>
                <a:latin typeface="Calibri"/>
                <a:sym typeface="Calibri"/>
              </a:rPr>
              <a:t>381 </a:t>
            </a:r>
            <a:r>
              <a:rPr lang="en" sz="1600">
                <a:solidFill>
                  <a:srgbClr val="262626"/>
                </a:solidFill>
                <a:latin typeface="Calibri"/>
                <a:sym typeface="Calibri"/>
              </a:rPr>
              <a:t>&lt; 9.977077) </a:t>
            </a:r>
            <a:r>
              <a:rPr lang="en" sz="1600">
                <a:solidFill>
                  <a:srgbClr val="262626"/>
                </a:solidFill>
                <a:latin typeface="Calibri"/>
                <a:sym typeface="Calibri"/>
              </a:rPr>
              <a:t>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262626"/>
                </a:solidFill>
                <a:latin typeface="Calibri"/>
                <a:sym typeface="Calibri"/>
              </a:rPr>
              <a:t>≈ 0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TextBox 203"/>
          <p:cNvSpPr txBox="1"/>
          <p:nvPr/>
        </p:nvSpPr>
        <p:spPr>
          <a:xfrm>
            <a:off x="402336" y="4736592"/>
            <a:ext cx="5486400" cy="274320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l"/>
            <a:r>
              <a:rPr sz="900">
                <a:solidFill>
                  <a:srgbClr val="5F6670"/>
                </a:solidFill>
                <a:latin typeface="Calibri"/>
              </a:rPr>
              <a:t>DATA 602  |  Student Academic Performance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7827264" y="4736592"/>
            <a:ext cx="914400" cy="274320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r"/>
            <a:r>
              <a:rPr sz="900">
                <a:solidFill>
                  <a:srgbClr val="5F6670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41"/>
          <p:cNvSpPr txBox="1"/>
          <p:nvPr>
            <p:ph type="title"/>
          </p:nvPr>
        </p:nvSpPr>
        <p:spPr>
          <a:xfrm>
            <a:off x="310896" y="274320"/>
            <a:ext cx="8522208" cy="64008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1F3A5F"/>
                </a:solidFill>
                <a:latin typeface="Calibri"/>
              </a:rPr>
              <a:t>95% Confidence Intervals</a:t>
            </a:r>
            <a:endParaRPr b="1">
              <a:solidFill>
                <a:srgbClr val="23395B"/>
              </a:solidFill>
            </a:endParaRPr>
          </a:p>
        </p:txBody>
      </p:sp>
      <p:sp>
        <p:nvSpPr>
          <p:cNvPr id="209" name="Google Shape;209;p41"/>
          <p:cNvSpPr txBox="1"/>
          <p:nvPr>
            <p:ph idx="1" type="body"/>
          </p:nvPr>
        </p:nvSpPr>
        <p:spPr>
          <a:xfrm>
            <a:off x="310896" y="1005840"/>
            <a:ext cx="8522208" cy="361188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3429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3A5F"/>
              </a:buClr>
              <a:buSzPct val="100000"/>
              <a:buFont typeface="Arial"/>
              <a:buChar char="•"/>
            </a:pPr>
            <a:r>
              <a:rPr lang="en" sz="1600">
                <a:solidFill>
                  <a:srgbClr val="262626"/>
                </a:solidFill>
                <a:latin typeface="Calibri"/>
                <a:sym typeface="Calibri"/>
              </a:rPr>
              <a:t>T-Test 95% Confidence Interval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42900" rtl="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262626"/>
                </a:solidFill>
                <a:latin typeface="Calibri"/>
                <a:sym typeface="Calibri"/>
              </a:rPr>
              <a:t>1.708848 </a:t>
            </a:r>
            <a:r>
              <a:rPr lang="en" sz="1600">
                <a:solidFill>
                  <a:srgbClr val="262626"/>
                </a:solidFill>
                <a:latin typeface="Calibri"/>
                <a:sym typeface="Calibri"/>
              </a:rPr>
              <a:t>≤ μ</a:t>
            </a:r>
            <a:r>
              <a:rPr baseline="-25000" lang="en" sz="1600">
                <a:solidFill>
                  <a:srgbClr val="262626"/>
                </a:solidFill>
                <a:latin typeface="Calibri"/>
                <a:sym typeface="Calibri"/>
              </a:rPr>
              <a:t>d</a:t>
            </a:r>
            <a:r>
              <a:rPr lang="en" sz="1600">
                <a:solidFill>
                  <a:srgbClr val="262626"/>
                </a:solidFill>
                <a:latin typeface="Calibri"/>
                <a:sym typeface="Calibri"/>
              </a:rPr>
              <a:t> </a:t>
            </a:r>
            <a:r>
              <a:rPr lang="en" sz="1600">
                <a:solidFill>
                  <a:srgbClr val="262626"/>
                </a:solidFill>
                <a:latin typeface="Calibri"/>
                <a:sym typeface="Calibri"/>
              </a:rPr>
              <a:t>≤ 2.547697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342900" rtl="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rgbClr val="1F3A5F"/>
              </a:buClr>
              <a:buSzPct val="100000"/>
              <a:buFont typeface="Arial"/>
              <a:buChar char="•"/>
            </a:pPr>
            <a:r>
              <a:rPr lang="en" sz="1600">
                <a:solidFill>
                  <a:srgbClr val="262626"/>
                </a:solidFill>
                <a:latin typeface="Calibri"/>
                <a:sym typeface="Calibri"/>
              </a:rPr>
              <a:t>Bootstrap 95% Confidence Interval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42900" rtl="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262626"/>
                </a:solidFill>
                <a:latin typeface="Calibri"/>
                <a:sym typeface="Calibri"/>
              </a:rPr>
              <a:t>1.706806 </a:t>
            </a:r>
            <a:r>
              <a:rPr lang="en" sz="1600">
                <a:solidFill>
                  <a:srgbClr val="262626"/>
                </a:solidFill>
                <a:latin typeface="Calibri"/>
                <a:sym typeface="Calibri"/>
              </a:rPr>
              <a:t>≤ μ</a:t>
            </a:r>
            <a:r>
              <a:rPr baseline="-25000" lang="en" sz="1600">
                <a:solidFill>
                  <a:srgbClr val="262626"/>
                </a:solidFill>
                <a:latin typeface="Calibri"/>
                <a:sym typeface="Calibri"/>
              </a:rPr>
              <a:t>d</a:t>
            </a:r>
            <a:r>
              <a:rPr lang="en" sz="1600">
                <a:solidFill>
                  <a:srgbClr val="262626"/>
                </a:solidFill>
                <a:latin typeface="Calibri"/>
                <a:sym typeface="Calibri"/>
              </a:rPr>
              <a:t> ≤ </a:t>
            </a:r>
            <a:r>
              <a:rPr lang="en" sz="1600">
                <a:solidFill>
                  <a:srgbClr val="262626"/>
                </a:solidFill>
                <a:latin typeface="Calibri"/>
                <a:sym typeface="Calibri"/>
              </a:rPr>
              <a:t>2.534162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TextBox 209"/>
          <p:cNvSpPr txBox="1"/>
          <p:nvPr/>
        </p:nvSpPr>
        <p:spPr>
          <a:xfrm>
            <a:off x="402336" y="4736592"/>
            <a:ext cx="5486400" cy="274320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l"/>
            <a:r>
              <a:rPr sz="900">
                <a:solidFill>
                  <a:srgbClr val="5F6670"/>
                </a:solidFill>
                <a:latin typeface="Calibri"/>
              </a:rPr>
              <a:t>DATA 602  |  Student Academic Performance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7827264" y="4736592"/>
            <a:ext cx="914400" cy="274320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r"/>
            <a:r>
              <a:rPr sz="900">
                <a:solidFill>
                  <a:srgbClr val="5F6670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42"/>
          <p:cNvSpPr txBox="1"/>
          <p:nvPr>
            <p:ph type="title"/>
          </p:nvPr>
        </p:nvSpPr>
        <p:spPr>
          <a:xfrm>
            <a:off x="914400" y="1325880"/>
            <a:ext cx="7315200" cy="237744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3200">
                <a:solidFill>
                  <a:srgbClr val="1F3A5F"/>
                </a:solidFill>
                <a:latin typeface="Calibri"/>
              </a:rPr>
              <a:t>Statistical Method #2</a:t>
            </a:r>
            <a:endParaRPr b="1" sz="2750">
              <a:solidFill>
                <a:srgbClr val="23395B"/>
              </a:solidFill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5F6670"/>
                </a:solidFill>
                <a:latin typeface="Calibri"/>
              </a:rPr>
              <a:t/>
            </a:r>
            <a:endParaRPr/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rPr lang="en" sz="1600" b="0">
                <a:solidFill>
                  <a:srgbClr val="5F6670"/>
                </a:solidFill>
                <a:latin typeface="Calibri"/>
                <a:sym typeface="Calibri"/>
              </a:rPr>
              <a:t>Parametric Test to Compare the Difference in Final Grades Between Urban and Rural Area Students for both Portuguese and Mathematics Courses Along with a Lower Confidence Bound (Conventional and Bootstrap)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5F6670"/>
                </a:solidFill>
                <a:latin typeface="Calibri"/>
              </a:rP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43"/>
          <p:cNvSpPr txBox="1"/>
          <p:nvPr>
            <p:ph type="title"/>
          </p:nvPr>
        </p:nvSpPr>
        <p:spPr>
          <a:xfrm>
            <a:off x="310896" y="274320"/>
            <a:ext cx="8522208" cy="64008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b="1" lang="en" sz="2400">
                <a:solidFill>
                  <a:srgbClr val="1F3A5F"/>
                </a:solidFill>
                <a:latin typeface="Calibri"/>
              </a:rPr>
              <a:t>Statistical Hypothesis</a:t>
            </a:r>
            <a:endParaRPr b="1">
              <a:solidFill>
                <a:srgbClr val="23395B"/>
              </a:solidFill>
            </a:endParaRPr>
          </a:p>
        </p:txBody>
      </p:sp>
      <p:sp>
        <p:nvSpPr>
          <p:cNvPr id="220" name="Google Shape;220;p43"/>
          <p:cNvSpPr txBox="1"/>
          <p:nvPr>
            <p:ph idx="1" type="body"/>
          </p:nvPr>
        </p:nvSpPr>
        <p:spPr>
          <a:xfrm>
            <a:off x="310896" y="1005840"/>
            <a:ext cx="8522208" cy="361188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262626"/>
                </a:solidFill>
                <a:latin typeface="Calibri"/>
                <a:sym typeface="Calibri"/>
              </a:rPr>
              <a:t>Does the data suggest that secondary school students in urban regions perform better, on average, than secondary school students in rural regions?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262626"/>
                </a:solidFill>
                <a:latin typeface="Calibri"/>
                <a:sym typeface="Calibri"/>
              </a:rPr>
              <a:t>Let μ</a:t>
            </a:r>
            <a:r>
              <a:rPr baseline="-25000" lang="en" sz="1600">
                <a:solidFill>
                  <a:srgbClr val="262626"/>
                </a:solidFill>
                <a:latin typeface="Calibri"/>
                <a:sym typeface="Calibri"/>
              </a:rPr>
              <a:t>G3Urban</a:t>
            </a:r>
            <a:r>
              <a:rPr lang="en" sz="1600">
                <a:solidFill>
                  <a:srgbClr val="262626"/>
                </a:solidFill>
                <a:latin typeface="Calibri"/>
                <a:sym typeface="Calibri"/>
              </a:rPr>
              <a:t> be the average Urban Student Final Exam Grade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262626"/>
                </a:solidFill>
                <a:latin typeface="Calibri"/>
                <a:sym typeface="Calibri"/>
              </a:rPr>
              <a:t>Let μ</a:t>
            </a:r>
            <a:r>
              <a:rPr baseline="-25000" lang="en" sz="1600">
                <a:solidFill>
                  <a:srgbClr val="262626"/>
                </a:solidFill>
                <a:latin typeface="Calibri"/>
                <a:sym typeface="Calibri"/>
              </a:rPr>
              <a:t>G3Rural</a:t>
            </a:r>
            <a:r>
              <a:rPr lang="en" sz="1600">
                <a:solidFill>
                  <a:srgbClr val="262626"/>
                </a:solidFill>
                <a:latin typeface="Calibri"/>
                <a:sym typeface="Calibri"/>
              </a:rPr>
              <a:t> be the average Rural Student Final Exam Grade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342900" rtl="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rgbClr val="1F3A5F"/>
              </a:buClr>
              <a:buSzPct val="100000"/>
              <a:buFont typeface="Arial"/>
              <a:buChar char="•"/>
            </a:pPr>
            <a:r>
              <a:rPr lang="en" sz="1600">
                <a:solidFill>
                  <a:srgbClr val="262626"/>
                </a:solidFill>
                <a:latin typeface="Calibri"/>
                <a:sym typeface="Calibri"/>
              </a:rPr>
              <a:t>H</a:t>
            </a:r>
            <a:r>
              <a:rPr baseline="-25000" lang="en" sz="1600">
                <a:solidFill>
                  <a:srgbClr val="262626"/>
                </a:solidFill>
                <a:latin typeface="Calibri"/>
                <a:sym typeface="Calibri"/>
              </a:rPr>
              <a:t>0</a:t>
            </a:r>
            <a:r>
              <a:rPr lang="en" sz="1600">
                <a:solidFill>
                  <a:srgbClr val="262626"/>
                </a:solidFill>
                <a:latin typeface="Calibri"/>
                <a:sym typeface="Calibri"/>
              </a:rPr>
              <a:t>: μ</a:t>
            </a:r>
            <a:r>
              <a:rPr baseline="-25000" lang="en" sz="1600">
                <a:solidFill>
                  <a:srgbClr val="262626"/>
                </a:solidFill>
                <a:latin typeface="Calibri"/>
                <a:sym typeface="Calibri"/>
              </a:rPr>
              <a:t>G3Urban</a:t>
            </a:r>
            <a:r>
              <a:rPr lang="en" sz="1600">
                <a:solidFill>
                  <a:srgbClr val="262626"/>
                </a:solidFill>
                <a:latin typeface="Calibri"/>
                <a:sym typeface="Calibri"/>
              </a:rPr>
              <a:t> ≤ μ</a:t>
            </a:r>
            <a:r>
              <a:rPr baseline="-25000" lang="en" sz="1600">
                <a:solidFill>
                  <a:srgbClr val="262626"/>
                </a:solidFill>
                <a:latin typeface="Calibri"/>
                <a:sym typeface="Calibri"/>
              </a:rPr>
              <a:t>G3Rural</a:t>
            </a:r>
            <a:r>
              <a:rPr lang="en" sz="1600">
                <a:solidFill>
                  <a:srgbClr val="262626"/>
                </a:solidFill>
                <a:latin typeface="Calibri"/>
                <a:sym typeface="Calibri"/>
              </a:rPr>
              <a:t> ; μ</a:t>
            </a:r>
            <a:r>
              <a:rPr baseline="-25000" lang="en" sz="1600">
                <a:solidFill>
                  <a:srgbClr val="262626"/>
                </a:solidFill>
                <a:latin typeface="Calibri"/>
                <a:sym typeface="Calibri"/>
              </a:rPr>
              <a:t>G3Urban</a:t>
            </a:r>
            <a:r>
              <a:rPr lang="en" sz="1600">
                <a:solidFill>
                  <a:srgbClr val="262626"/>
                </a:solidFill>
                <a:latin typeface="Calibri"/>
                <a:sym typeface="Calibri"/>
              </a:rPr>
              <a:t>- μ</a:t>
            </a:r>
            <a:r>
              <a:rPr baseline="-25000" lang="en" sz="1600">
                <a:solidFill>
                  <a:srgbClr val="262626"/>
                </a:solidFill>
                <a:latin typeface="Calibri"/>
                <a:sym typeface="Calibri"/>
              </a:rPr>
              <a:t>G3Rural</a:t>
            </a:r>
            <a:r>
              <a:rPr lang="en" sz="1600">
                <a:solidFill>
                  <a:srgbClr val="262626"/>
                </a:solidFill>
                <a:latin typeface="Calibri"/>
                <a:sym typeface="Calibri"/>
              </a:rPr>
              <a:t> ≤ 0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342900" rtl="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rgbClr val="1F3A5F"/>
              </a:buClr>
              <a:buSzPct val="100000"/>
              <a:buFont typeface="Arial"/>
              <a:buChar char="•"/>
            </a:pPr>
            <a:r>
              <a:rPr lang="en" sz="1600">
                <a:solidFill>
                  <a:srgbClr val="262626"/>
                </a:solidFill>
                <a:latin typeface="Calibri"/>
                <a:sym typeface="Calibri"/>
              </a:rPr>
              <a:t>H</a:t>
            </a:r>
            <a:r>
              <a:rPr baseline="-25000" lang="en" sz="1600">
                <a:solidFill>
                  <a:srgbClr val="262626"/>
                </a:solidFill>
                <a:latin typeface="Calibri"/>
                <a:sym typeface="Calibri"/>
              </a:rPr>
              <a:t>A</a:t>
            </a:r>
            <a:r>
              <a:rPr lang="en" sz="1600">
                <a:solidFill>
                  <a:srgbClr val="262626"/>
                </a:solidFill>
                <a:latin typeface="Calibri"/>
                <a:sym typeface="Calibri"/>
              </a:rPr>
              <a:t>: μ</a:t>
            </a:r>
            <a:r>
              <a:rPr baseline="-25000" lang="en" sz="1600">
                <a:solidFill>
                  <a:srgbClr val="262626"/>
                </a:solidFill>
                <a:latin typeface="Calibri"/>
                <a:sym typeface="Calibri"/>
              </a:rPr>
              <a:t>G3Urban</a:t>
            </a:r>
            <a:r>
              <a:rPr lang="en" sz="1600">
                <a:solidFill>
                  <a:srgbClr val="262626"/>
                </a:solidFill>
                <a:latin typeface="Calibri"/>
                <a:sym typeface="Calibri"/>
              </a:rPr>
              <a:t> &gt; μ</a:t>
            </a:r>
            <a:r>
              <a:rPr baseline="-25000" lang="en" sz="1600">
                <a:solidFill>
                  <a:srgbClr val="262626"/>
                </a:solidFill>
                <a:latin typeface="Calibri"/>
                <a:sym typeface="Calibri"/>
              </a:rPr>
              <a:t>G3Rural</a:t>
            </a:r>
            <a:r>
              <a:rPr lang="en" sz="1600">
                <a:solidFill>
                  <a:srgbClr val="262626"/>
                </a:solidFill>
                <a:latin typeface="Calibri"/>
                <a:sym typeface="Calibri"/>
              </a:rPr>
              <a:t> ; μ</a:t>
            </a:r>
            <a:r>
              <a:rPr baseline="-25000" lang="en" sz="1600">
                <a:solidFill>
                  <a:srgbClr val="262626"/>
                </a:solidFill>
                <a:latin typeface="Calibri"/>
                <a:sym typeface="Calibri"/>
              </a:rPr>
              <a:t>G3Urban </a:t>
            </a:r>
            <a:r>
              <a:rPr lang="en" sz="1600">
                <a:solidFill>
                  <a:srgbClr val="262626"/>
                </a:solidFill>
                <a:latin typeface="Calibri"/>
                <a:sym typeface="Calibri"/>
              </a:rPr>
              <a:t>- μ</a:t>
            </a:r>
            <a:r>
              <a:rPr baseline="-25000" lang="en" sz="1600">
                <a:solidFill>
                  <a:srgbClr val="262626"/>
                </a:solidFill>
                <a:latin typeface="Calibri"/>
                <a:sym typeface="Calibri"/>
              </a:rPr>
              <a:t>G3Rural</a:t>
            </a:r>
            <a:r>
              <a:rPr lang="en" sz="1600">
                <a:solidFill>
                  <a:srgbClr val="262626"/>
                </a:solidFill>
                <a:latin typeface="Calibri"/>
                <a:sym typeface="Calibri"/>
              </a:rPr>
              <a:t> &gt; 0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TextBox 220"/>
          <p:cNvSpPr txBox="1"/>
          <p:nvPr/>
        </p:nvSpPr>
        <p:spPr>
          <a:xfrm>
            <a:off x="402336" y="4736592"/>
            <a:ext cx="5486400" cy="274320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l"/>
            <a:r>
              <a:rPr sz="900">
                <a:solidFill>
                  <a:srgbClr val="5F6670"/>
                </a:solidFill>
                <a:latin typeface="Calibri"/>
              </a:rPr>
              <a:t>DATA 602  |  Student Academic Performance</a:t>
            </a:r>
          </a:p>
        </p:txBody>
      </p:sp>
      <p:sp>
        <p:nvSpPr>
          <p:cNvPr id="222" name="TextBox 221"/>
          <p:cNvSpPr txBox="1"/>
          <p:nvPr/>
        </p:nvSpPr>
        <p:spPr>
          <a:xfrm>
            <a:off x="7827264" y="4736592"/>
            <a:ext cx="914400" cy="274320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r"/>
            <a:r>
              <a:rPr sz="900">
                <a:solidFill>
                  <a:srgbClr val="5F6670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44"/>
          <p:cNvSpPr txBox="1"/>
          <p:nvPr>
            <p:ph type="title"/>
          </p:nvPr>
        </p:nvSpPr>
        <p:spPr>
          <a:xfrm>
            <a:off x="310896" y="274320"/>
            <a:ext cx="8522208" cy="64008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1F3A5F"/>
                </a:solidFill>
                <a:latin typeface="Calibri"/>
              </a:rPr>
              <a:t>Mathematics - Parametric Approach</a:t>
            </a:r>
            <a:endParaRPr b="1">
              <a:solidFill>
                <a:srgbClr val="23395B"/>
              </a:solidFill>
            </a:endParaRPr>
          </a:p>
        </p:txBody>
      </p:sp>
      <p:sp>
        <p:nvSpPr>
          <p:cNvPr id="226" name="Google Shape;226;p44"/>
          <p:cNvSpPr txBox="1"/>
          <p:nvPr>
            <p:ph idx="1" type="body"/>
          </p:nvPr>
        </p:nvSpPr>
        <p:spPr>
          <a:xfrm>
            <a:off x="310896" y="1005840"/>
            <a:ext cx="8522208" cy="361188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262626"/>
                </a:solidFill>
                <a:latin typeface="Calibri"/>
                <a:sym typeface="Calibri"/>
              </a:rPr>
              <a:t>Test Statistic: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342900" rtl="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rgbClr val="1F3A5F"/>
              </a:buClr>
              <a:buSzPct val="100000"/>
              <a:buFont typeface="Arial"/>
              <a:buChar char="•"/>
            </a:pPr>
            <a:r>
              <a:rPr lang="en" sz="1600">
                <a:solidFill>
                  <a:srgbClr val="262626"/>
                </a:solidFill>
                <a:latin typeface="Calibri"/>
                <a:sym typeface="Calibri"/>
              </a:rPr>
              <a:t>T</a:t>
            </a:r>
            <a:r>
              <a:rPr baseline="-25000" lang="en" sz="1600">
                <a:solidFill>
                  <a:srgbClr val="262626"/>
                </a:solidFill>
                <a:latin typeface="Calibri"/>
                <a:sym typeface="Calibri"/>
              </a:rPr>
              <a:t>Obs</a:t>
            </a:r>
            <a:r>
              <a:rPr lang="en" sz="1600">
                <a:solidFill>
                  <a:srgbClr val="262626"/>
                </a:solidFill>
                <a:latin typeface="Calibri"/>
                <a:sym typeface="Calibri"/>
              </a:rPr>
              <a:t> = 1.8347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262626"/>
                </a:solidFill>
                <a:latin typeface="Calibri"/>
                <a:sym typeface="Calibri"/>
              </a:rPr>
              <a:t>P-Value: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342900" rtl="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rgbClr val="1F3A5F"/>
              </a:buClr>
              <a:buSzPct val="100000"/>
              <a:buFont typeface="Arial"/>
              <a:buChar char="•"/>
            </a:pPr>
            <a:r>
              <a:rPr lang="en" sz="1600">
                <a:solidFill>
                  <a:srgbClr val="262626"/>
                </a:solidFill>
                <a:latin typeface="Calibri"/>
                <a:sym typeface="Calibri"/>
              </a:rPr>
              <a:t>P-Value = 0.03443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262626"/>
                </a:solidFill>
                <a:latin typeface="Calibri"/>
                <a:sym typeface="Calibri"/>
              </a:rPr>
              <a:t>95% Lower Confidence Bounds</a:t>
            </a:r>
            <a:r>
              <a:rPr lang="en" sz="1600">
                <a:solidFill>
                  <a:srgbClr val="262626"/>
                </a:solidFill>
                <a:latin typeface="Calibri"/>
                <a:sym typeface="Calibri"/>
              </a:rPr>
              <a:t>: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342900" rtl="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rgbClr val="1F3A5F"/>
              </a:buClr>
              <a:buSzPct val="100000"/>
              <a:buFont typeface="Arial"/>
              <a:buChar char="•"/>
            </a:pPr>
            <a:r>
              <a:rPr lang="en" sz="1600">
                <a:solidFill>
                  <a:srgbClr val="262626"/>
                </a:solidFill>
                <a:latin typeface="Calibri"/>
                <a:sym typeface="Calibri"/>
              </a:rPr>
              <a:t>T-Test 95% Lower Confidence Bound: 0.1023915  ≤ μ</a:t>
            </a:r>
            <a:r>
              <a:rPr baseline="-25000" lang="en" sz="1600">
                <a:solidFill>
                  <a:srgbClr val="262626"/>
                </a:solidFill>
                <a:latin typeface="Calibri"/>
                <a:sym typeface="Calibri"/>
              </a:rPr>
              <a:t>G3Urban</a:t>
            </a:r>
            <a:r>
              <a:rPr lang="en" sz="1600">
                <a:solidFill>
                  <a:srgbClr val="262626"/>
                </a:solidFill>
                <a:latin typeface="Calibri"/>
                <a:sym typeface="Calibri"/>
              </a:rPr>
              <a:t>- μ</a:t>
            </a:r>
            <a:r>
              <a:rPr baseline="-25000" lang="en" sz="1600">
                <a:solidFill>
                  <a:srgbClr val="262626"/>
                </a:solidFill>
                <a:latin typeface="Calibri"/>
                <a:sym typeface="Calibri"/>
              </a:rPr>
              <a:t>G3Rural</a:t>
            </a:r>
            <a:r>
              <a:rPr lang="en" sz="1600">
                <a:solidFill>
                  <a:srgbClr val="262626"/>
                </a:solidFill>
                <a:latin typeface="Calibri"/>
                <a:sym typeface="Calibri"/>
              </a:rPr>
              <a:t> &lt;  ∞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342900" rtl="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rgbClr val="1F3A5F"/>
              </a:buClr>
              <a:buSzPct val="100000"/>
              <a:buFont typeface="Arial"/>
              <a:buChar char="•"/>
            </a:pPr>
            <a:r>
              <a:rPr lang="en" sz="1600">
                <a:solidFill>
                  <a:srgbClr val="262626"/>
                </a:solidFill>
                <a:latin typeface="Calibri"/>
                <a:sym typeface="Calibri"/>
              </a:rPr>
              <a:t>95% Bootstrap Lower Confidence Bound: 0.1022702 ≤  μ</a:t>
            </a:r>
            <a:r>
              <a:rPr baseline="-25000" lang="en" sz="1600">
                <a:solidFill>
                  <a:srgbClr val="262626"/>
                </a:solidFill>
                <a:latin typeface="Calibri"/>
                <a:sym typeface="Calibri"/>
              </a:rPr>
              <a:t>G3Urban</a:t>
            </a:r>
            <a:r>
              <a:rPr lang="en" sz="1600">
                <a:solidFill>
                  <a:srgbClr val="262626"/>
                </a:solidFill>
                <a:latin typeface="Calibri"/>
                <a:sym typeface="Calibri"/>
              </a:rPr>
              <a:t>- μ</a:t>
            </a:r>
            <a:r>
              <a:rPr baseline="-25000" lang="en" sz="1600">
                <a:solidFill>
                  <a:srgbClr val="262626"/>
                </a:solidFill>
                <a:latin typeface="Calibri"/>
                <a:sym typeface="Calibri"/>
              </a:rPr>
              <a:t>G3Rural</a:t>
            </a:r>
            <a:r>
              <a:rPr lang="en" sz="1600">
                <a:solidFill>
                  <a:srgbClr val="262626"/>
                </a:solidFill>
                <a:latin typeface="Calibri"/>
                <a:sym typeface="Calibri"/>
              </a:rPr>
              <a:t> &lt; ∞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TextBox 226"/>
          <p:cNvSpPr txBox="1"/>
          <p:nvPr/>
        </p:nvSpPr>
        <p:spPr>
          <a:xfrm>
            <a:off x="402336" y="4736592"/>
            <a:ext cx="5486400" cy="274320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l"/>
            <a:r>
              <a:rPr sz="900">
                <a:solidFill>
                  <a:srgbClr val="5F6670"/>
                </a:solidFill>
                <a:latin typeface="Calibri"/>
              </a:rPr>
              <a:t>DATA 602  |  Student Academic Performance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7827264" y="4736592"/>
            <a:ext cx="914400" cy="274320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r"/>
            <a:r>
              <a:rPr sz="900">
                <a:solidFill>
                  <a:srgbClr val="5F6670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45"/>
          <p:cNvSpPr txBox="1"/>
          <p:nvPr>
            <p:ph type="title"/>
          </p:nvPr>
        </p:nvSpPr>
        <p:spPr>
          <a:xfrm>
            <a:off x="310896" y="274320"/>
            <a:ext cx="8522208" cy="64008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1F3A5F"/>
                </a:solidFill>
                <a:latin typeface="Calibri"/>
              </a:rPr>
              <a:t>Portuguese - Parametric Approach</a:t>
            </a:r>
            <a:endParaRPr b="1">
              <a:solidFill>
                <a:srgbClr val="23395B"/>
              </a:solidFill>
            </a:endParaRPr>
          </a:p>
        </p:txBody>
      </p:sp>
      <p:sp>
        <p:nvSpPr>
          <p:cNvPr id="232" name="Google Shape;232;p45"/>
          <p:cNvSpPr txBox="1"/>
          <p:nvPr>
            <p:ph idx="1" type="body"/>
          </p:nvPr>
        </p:nvSpPr>
        <p:spPr>
          <a:xfrm>
            <a:off x="310896" y="1005840"/>
            <a:ext cx="8522208" cy="361188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262626"/>
                </a:solidFill>
                <a:latin typeface="Calibri"/>
                <a:sym typeface="Calibri"/>
              </a:rPr>
              <a:t>Test Statistic: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342900" rtl="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rgbClr val="1F3A5F"/>
              </a:buClr>
              <a:buSzPct val="100000"/>
              <a:buFont typeface="Arial"/>
              <a:buChar char="•"/>
            </a:pPr>
            <a:r>
              <a:rPr lang="en" sz="1600">
                <a:solidFill>
                  <a:srgbClr val="262626"/>
                </a:solidFill>
                <a:latin typeface="Calibri"/>
                <a:sym typeface="Calibri"/>
              </a:rPr>
              <a:t>T</a:t>
            </a:r>
            <a:r>
              <a:rPr baseline="-25000" lang="en" sz="1600">
                <a:solidFill>
                  <a:srgbClr val="262626"/>
                </a:solidFill>
                <a:latin typeface="Calibri"/>
                <a:sym typeface="Calibri"/>
              </a:rPr>
              <a:t>Obs</a:t>
            </a:r>
            <a:r>
              <a:rPr lang="en" sz="1600">
                <a:solidFill>
                  <a:srgbClr val="262626"/>
                </a:solidFill>
                <a:latin typeface="Calibri"/>
                <a:sym typeface="Calibri"/>
              </a:rPr>
              <a:t> = 3.172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262626"/>
                </a:solidFill>
                <a:latin typeface="Calibri"/>
                <a:sym typeface="Calibri"/>
              </a:rPr>
              <a:t>P-Value: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342900" rtl="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rgbClr val="1F3A5F"/>
              </a:buClr>
              <a:buSzPct val="100000"/>
              <a:buFont typeface="Arial"/>
              <a:buChar char="•"/>
            </a:pPr>
            <a:r>
              <a:rPr lang="en" sz="1600">
                <a:solidFill>
                  <a:srgbClr val="262626"/>
                </a:solidFill>
                <a:latin typeface="Calibri"/>
                <a:sym typeface="Calibri"/>
              </a:rPr>
              <a:t>P-Value = 0.0009927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262626"/>
                </a:solidFill>
                <a:latin typeface="Calibri"/>
                <a:sym typeface="Calibri"/>
              </a:rPr>
              <a:t>95% Lower Confidence Bounds: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342900" rtl="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rgbClr val="1F3A5F"/>
              </a:buClr>
              <a:buSzPct val="100000"/>
              <a:buFont typeface="Arial"/>
              <a:buChar char="•"/>
            </a:pPr>
            <a:r>
              <a:rPr lang="en" sz="1600">
                <a:solidFill>
                  <a:srgbClr val="262626"/>
                </a:solidFill>
                <a:latin typeface="Calibri"/>
                <a:sym typeface="Calibri"/>
              </a:rPr>
              <a:t>T-Test 95% Lower Confidence Bound: 0.6482747 ≤ μ</a:t>
            </a:r>
            <a:r>
              <a:rPr baseline="-25000" lang="en" sz="1600">
                <a:solidFill>
                  <a:srgbClr val="262626"/>
                </a:solidFill>
                <a:latin typeface="Calibri"/>
                <a:sym typeface="Calibri"/>
              </a:rPr>
              <a:t>G3Urban</a:t>
            </a:r>
            <a:r>
              <a:rPr lang="en" sz="1600">
                <a:solidFill>
                  <a:srgbClr val="262626"/>
                </a:solidFill>
                <a:latin typeface="Calibri"/>
                <a:sym typeface="Calibri"/>
              </a:rPr>
              <a:t>- μ</a:t>
            </a:r>
            <a:r>
              <a:rPr baseline="-25000" lang="en" sz="1600">
                <a:solidFill>
                  <a:srgbClr val="262626"/>
                </a:solidFill>
                <a:latin typeface="Calibri"/>
                <a:sym typeface="Calibri"/>
              </a:rPr>
              <a:t>G3Rural</a:t>
            </a:r>
            <a:r>
              <a:rPr lang="en" sz="1600">
                <a:solidFill>
                  <a:srgbClr val="262626"/>
                </a:solidFill>
                <a:latin typeface="Calibri"/>
                <a:sym typeface="Calibri"/>
              </a:rPr>
              <a:t>&lt; ∞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342900" rtl="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rgbClr val="1F3A5F"/>
              </a:buClr>
              <a:buSzPct val="100000"/>
              <a:buFont typeface="Arial"/>
              <a:buChar char="•"/>
            </a:pPr>
            <a:r>
              <a:rPr lang="en" sz="1600">
                <a:solidFill>
                  <a:srgbClr val="262626"/>
                </a:solidFill>
                <a:latin typeface="Calibri"/>
                <a:sym typeface="Calibri"/>
              </a:rPr>
              <a:t>95% Bootstrap Lower Confidence Bound: 0.6453734 ≤  μ</a:t>
            </a:r>
            <a:r>
              <a:rPr baseline="-25000" lang="en" sz="1600">
                <a:solidFill>
                  <a:srgbClr val="262626"/>
                </a:solidFill>
                <a:latin typeface="Calibri"/>
                <a:sym typeface="Calibri"/>
              </a:rPr>
              <a:t>G3Urban</a:t>
            </a:r>
            <a:r>
              <a:rPr lang="en" sz="1600">
                <a:solidFill>
                  <a:srgbClr val="262626"/>
                </a:solidFill>
                <a:latin typeface="Calibri"/>
                <a:sym typeface="Calibri"/>
              </a:rPr>
              <a:t>- μ</a:t>
            </a:r>
            <a:r>
              <a:rPr baseline="-25000" lang="en" sz="1600">
                <a:solidFill>
                  <a:srgbClr val="262626"/>
                </a:solidFill>
                <a:latin typeface="Calibri"/>
                <a:sym typeface="Calibri"/>
              </a:rPr>
              <a:t>G3Rural</a:t>
            </a:r>
            <a:r>
              <a:rPr lang="en" sz="1600">
                <a:solidFill>
                  <a:srgbClr val="262626"/>
                </a:solidFill>
                <a:latin typeface="Calibri"/>
                <a:sym typeface="Calibri"/>
              </a:rPr>
              <a:t> ≤ ∞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TextBox 232"/>
          <p:cNvSpPr txBox="1"/>
          <p:nvPr/>
        </p:nvSpPr>
        <p:spPr>
          <a:xfrm>
            <a:off x="402336" y="4736592"/>
            <a:ext cx="5486400" cy="274320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l"/>
            <a:r>
              <a:rPr sz="900">
                <a:solidFill>
                  <a:srgbClr val="5F6670"/>
                </a:solidFill>
                <a:latin typeface="Calibri"/>
              </a:rPr>
              <a:t>DATA 602  |  Student Academic Performance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7827264" y="4736592"/>
            <a:ext cx="914400" cy="274320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r"/>
            <a:r>
              <a:rPr sz="900">
                <a:solidFill>
                  <a:srgbClr val="5F6670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46"/>
          <p:cNvSpPr txBox="1"/>
          <p:nvPr>
            <p:ph type="title"/>
          </p:nvPr>
        </p:nvSpPr>
        <p:spPr>
          <a:xfrm>
            <a:off x="310896" y="274320"/>
            <a:ext cx="852220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 sz="2400" b="1">
                <a:solidFill>
                  <a:srgbClr val="1F3A5F"/>
                </a:solidFill>
                <a:latin typeface="Calibri"/>
              </a:rPr>
              <a:t>Conclusion: Method 1 (Paired t-Test)</a:t>
            </a:r>
            <a:endParaRPr/>
          </a:p>
        </p:txBody>
      </p:sp>
      <p:sp>
        <p:nvSpPr>
          <p:cNvPr id="238" name="Google Shape;238;p46"/>
          <p:cNvSpPr txBox="1"/>
          <p:nvPr>
            <p:ph idx="1" type="body"/>
          </p:nvPr>
        </p:nvSpPr>
        <p:spPr>
          <a:xfrm>
            <a:off x="310896" y="1005840"/>
            <a:ext cx="8522208" cy="36118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500">
                <a:solidFill>
                  <a:srgbClr val="262626"/>
                </a:solidFill>
                <a:latin typeface="Calibri"/>
              </a:rPr>
              <a:t>Do students score higher in Portuguese than in Mathematics?</a:t>
            </a:r>
            <a:endParaRPr/>
          </a:p>
          <a:p>
            <a:pPr indent="-228600" lvl="0" marL="342900" rtl="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rgbClr val="1F3A5F"/>
              </a:buClr>
              <a:buSzPct val="100000"/>
              <a:buFont typeface="Arial"/>
              <a:buChar char="•"/>
            </a:pPr>
            <a:r>
              <a:rPr lang="en" sz="1500">
                <a:solidFill>
                  <a:srgbClr val="262626"/>
                </a:solidFill>
                <a:latin typeface="Calibri"/>
              </a:rPr>
              <a:t>The average difference (Portuguese − Math) is </a:t>
            </a:r>
            <a:r>
              <a:rPr b="1" lang="en" sz="1500">
                <a:solidFill>
                  <a:srgbClr val="262626"/>
                </a:solidFill>
                <a:latin typeface="Calibri"/>
              </a:rPr>
              <a:t>+2.13 points</a:t>
            </a:r>
            <a:r>
              <a:rPr lang="en" sz="1500">
                <a:solidFill>
                  <a:srgbClr val="262626"/>
                </a:solidFill>
                <a:latin typeface="Calibri"/>
              </a:rPr>
              <a:t> out of 20. Since it is positive, students scored higher in Portuguese</a:t>
            </a:r>
            <a:endParaRPr/>
          </a:p>
          <a:p>
            <a:pPr indent="-228600" lvl="0" marL="342900" rtl="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rgbClr val="1F3A5F"/>
              </a:buClr>
              <a:buSzPct val="100000"/>
              <a:buFont typeface="Arial"/>
              <a:buChar char="•"/>
            </a:pPr>
            <a:r>
              <a:rPr lang="en" sz="1500">
                <a:solidFill>
                  <a:srgbClr val="262626"/>
                </a:solidFill>
                <a:latin typeface="Calibri"/>
              </a:rPr>
              <a:t>Since the P-value (≈ 0) is less than 0.05, we reject H₀ in favour of Hₐ. </a:t>
            </a:r>
            <a:r>
              <a:rPr b="1" lang="en" sz="1500">
                <a:solidFill>
                  <a:srgbClr val="262626"/>
                </a:solidFill>
                <a:latin typeface="Calibri"/>
              </a:rPr>
              <a:t>The data suggest that, on average, students score higher in Portuguese than in Mathematics</a:t>
            </a:r>
            <a:endParaRPr/>
          </a:p>
          <a:p>
            <a:pPr indent="-228600" lvl="0" marL="342900" rtl="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rgbClr val="1F3A5F"/>
              </a:buClr>
              <a:buSzPct val="100000"/>
              <a:buFont typeface="Arial"/>
              <a:buChar char="•"/>
            </a:pPr>
            <a:r>
              <a:rPr lang="en" sz="1500">
                <a:solidFill>
                  <a:srgbClr val="262626"/>
                </a:solidFill>
                <a:latin typeface="Calibri"/>
              </a:rPr>
              <a:t>We are 95% confident that, on average, students score </a:t>
            </a:r>
            <a:r>
              <a:rPr b="1" lang="en" sz="1500">
                <a:solidFill>
                  <a:srgbClr val="262626"/>
                </a:solidFill>
                <a:latin typeface="Calibri"/>
              </a:rPr>
              <a:t>between 1.71 and 2.55 points higher</a:t>
            </a:r>
            <a:r>
              <a:rPr lang="en" sz="1500">
                <a:solidFill>
                  <a:srgbClr val="262626"/>
                </a:solidFill>
                <a:latin typeface="Calibri"/>
              </a:rPr>
              <a:t> in Portuguese than in Mathematics (Bootstrap: 1.71 to 2.53)</a:t>
            </a:r>
            <a:endParaRPr/>
          </a:p>
        </p:txBody>
      </p:sp>
      <p:sp>
        <p:nvSpPr>
          <p:cNvPr id="239" name="TextBox 238"/>
          <p:cNvSpPr txBox="1"/>
          <p:nvPr/>
        </p:nvSpPr>
        <p:spPr>
          <a:xfrm>
            <a:off x="402336" y="4736592"/>
            <a:ext cx="5486400" cy="274320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l"/>
            <a:r>
              <a:rPr sz="900">
                <a:solidFill>
                  <a:srgbClr val="5F6670"/>
                </a:solidFill>
                <a:latin typeface="Calibri"/>
              </a:rPr>
              <a:t>DATA 602  |  Student Academic Performance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7827264" y="4736592"/>
            <a:ext cx="914400" cy="274320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r"/>
            <a:r>
              <a:rPr sz="900">
                <a:solidFill>
                  <a:srgbClr val="5F6670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47"/>
          <p:cNvSpPr txBox="1"/>
          <p:nvPr>
            <p:ph type="title"/>
          </p:nvPr>
        </p:nvSpPr>
        <p:spPr>
          <a:xfrm>
            <a:off x="310896" y="274320"/>
            <a:ext cx="852220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 sz="2400" b="1">
                <a:solidFill>
                  <a:srgbClr val="1F3A5F"/>
                </a:solidFill>
                <a:latin typeface="Calibri"/>
              </a:rPr>
              <a:t>Conclusion: Method 2 (Urban vs Rural)</a:t>
            </a:r>
            <a:endParaRPr/>
          </a:p>
        </p:txBody>
      </p:sp>
      <p:sp>
        <p:nvSpPr>
          <p:cNvPr id="244" name="Google Shape;244;p47"/>
          <p:cNvSpPr txBox="1"/>
          <p:nvPr>
            <p:ph idx="1" type="body"/>
          </p:nvPr>
        </p:nvSpPr>
        <p:spPr>
          <a:xfrm>
            <a:off x="310896" y="1005840"/>
            <a:ext cx="8522208" cy="36118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400">
                <a:solidFill>
                  <a:srgbClr val="262626"/>
                </a:solidFill>
                <a:latin typeface="Calibri"/>
              </a:rPr>
              <a:t>Do urban students score higher than rural students?</a:t>
            </a:r>
            <a:endParaRPr/>
          </a:p>
          <a:p>
            <a:pPr indent="-228600" lvl="0" marL="342900" rtl="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rgbClr val="1F3A5F"/>
              </a:buClr>
              <a:buSzPct val="100000"/>
              <a:buFont typeface="Arial"/>
              <a:buChar char="•"/>
            </a:pPr>
            <a:r>
              <a:rPr b="1" lang="en" sz="1400">
                <a:solidFill>
                  <a:srgbClr val="262626"/>
                </a:solidFill>
                <a:latin typeface="Calibri"/>
              </a:rPr>
              <a:t>Portuguese:</a:t>
            </a:r>
            <a:r>
              <a:rPr lang="en" sz="1400">
                <a:solidFill>
                  <a:srgbClr val="262626"/>
                </a:solidFill>
                <a:latin typeface="Calibri"/>
              </a:rPr>
              <a:t> Since the P-value (0.001) is less than 0.05, we reject H₀ in favour of Hₐ. The data suggest that, on average, urban students score higher in Portuguese than rural students</a:t>
            </a:r>
            <a:endParaRPr/>
          </a:p>
          <a:p>
            <a:pPr indent="-228600" lvl="1" marL="68580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1F3A5F"/>
              </a:buClr>
              <a:buSzPct val="100000"/>
              <a:buFont typeface="Arial"/>
              <a:buChar char="–"/>
            </a:pPr>
            <a:r>
              <a:rPr lang="en" sz="1300">
                <a:solidFill>
                  <a:srgbClr val="404040"/>
                </a:solidFill>
                <a:latin typeface="Calibri"/>
              </a:rPr>
              <a:t>We are 95% confident that urban students score at least 0.65 points higher in Portuguese, on average</a:t>
            </a:r>
            <a:endParaRPr/>
          </a:p>
          <a:p>
            <a:pPr indent="-228600" lvl="0" marL="342900" rtl="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rgbClr val="1F3A5F"/>
              </a:buClr>
              <a:buSzPct val="100000"/>
              <a:buFont typeface="Arial"/>
              <a:buChar char="•"/>
            </a:pPr>
            <a:r>
              <a:rPr b="1" lang="en" sz="1400">
                <a:solidFill>
                  <a:srgbClr val="262626"/>
                </a:solidFill>
                <a:latin typeface="Calibri"/>
              </a:rPr>
              <a:t>Mathematics:</a:t>
            </a:r>
            <a:r>
              <a:rPr lang="en" sz="1400">
                <a:solidFill>
                  <a:srgbClr val="262626"/>
                </a:solidFill>
                <a:latin typeface="Calibri"/>
              </a:rPr>
              <a:t> Since the P-value (0.034) is less than 0.05, we reject H₀ in favour of Hₐ. The data suggest that, on average, urban students score higher in Mathematics than rural students</a:t>
            </a:r>
            <a:endParaRPr/>
          </a:p>
          <a:p>
            <a:pPr indent="-228600" lvl="1" marL="68580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1F3A5F"/>
              </a:buClr>
              <a:buSzPct val="100000"/>
              <a:buFont typeface="Arial"/>
              <a:buChar char="–"/>
            </a:pPr>
            <a:r>
              <a:rPr lang="en" sz="1300">
                <a:solidFill>
                  <a:srgbClr val="404040"/>
                </a:solidFill>
                <a:latin typeface="Calibri"/>
              </a:rPr>
              <a:t>We are 95% confident that urban students score at least 0.10 points higher in Mathematics, on average, which is a small difference</a:t>
            </a:r>
            <a:endParaRPr/>
          </a:p>
        </p:txBody>
      </p:sp>
      <p:sp>
        <p:nvSpPr>
          <p:cNvPr id="245" name="TextBox 244"/>
          <p:cNvSpPr txBox="1"/>
          <p:nvPr/>
        </p:nvSpPr>
        <p:spPr>
          <a:xfrm>
            <a:off x="402336" y="4736592"/>
            <a:ext cx="5486400" cy="274320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l"/>
            <a:r>
              <a:rPr sz="900">
                <a:solidFill>
                  <a:srgbClr val="5F6670"/>
                </a:solidFill>
                <a:latin typeface="Calibri"/>
              </a:rPr>
              <a:t>DATA 602  |  Student Academic Performance</a:t>
            </a:r>
          </a:p>
        </p:txBody>
      </p:sp>
      <p:sp>
        <p:nvSpPr>
          <p:cNvPr id="246" name="TextBox 245"/>
          <p:cNvSpPr txBox="1"/>
          <p:nvPr/>
        </p:nvSpPr>
        <p:spPr>
          <a:xfrm>
            <a:off x="7827264" y="4736592"/>
            <a:ext cx="914400" cy="274320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r"/>
            <a:r>
              <a:rPr sz="900">
                <a:solidFill>
                  <a:srgbClr val="5F6670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48"/>
          <p:cNvSpPr txBox="1"/>
          <p:nvPr>
            <p:ph type="title"/>
          </p:nvPr>
        </p:nvSpPr>
        <p:spPr>
          <a:xfrm>
            <a:off x="310896" y="274320"/>
            <a:ext cx="852220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 sz="2400" b="1">
                <a:solidFill>
                  <a:srgbClr val="1F3A5F"/>
                </a:solidFill>
                <a:latin typeface="Calibri"/>
              </a:rPr>
              <a:t>What We Cannot Conclude</a:t>
            </a:r>
            <a:endParaRPr/>
          </a:p>
        </p:txBody>
      </p:sp>
      <p:sp>
        <p:nvSpPr>
          <p:cNvPr id="250" name="Google Shape;250;p48"/>
          <p:cNvSpPr txBox="1"/>
          <p:nvPr>
            <p:ph idx="1" type="body"/>
          </p:nvPr>
        </p:nvSpPr>
        <p:spPr>
          <a:xfrm>
            <a:off x="310896" y="1005840"/>
            <a:ext cx="8522208" cy="36118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3429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3A5F"/>
              </a:buClr>
              <a:buSzPct val="100000"/>
              <a:buFont typeface="Arial"/>
              <a:buChar char="•"/>
            </a:pPr>
            <a:r>
              <a:rPr b="1" lang="en" sz="1600">
                <a:solidFill>
                  <a:srgbClr val="262626"/>
                </a:solidFill>
                <a:latin typeface="Calibri"/>
              </a:rPr>
              <a:t>We cannot conclude cause and effect</a:t>
            </a:r>
            <a:endParaRPr/>
          </a:p>
          <a:p>
            <a:pPr indent="-228600" lvl="1" marL="68580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1F3A5F"/>
              </a:buClr>
              <a:buSzPct val="100000"/>
              <a:buFont typeface="Arial"/>
              <a:buChar char="–"/>
            </a:pPr>
            <a:r>
              <a:rPr lang="en" sz="1500">
                <a:solidFill>
                  <a:srgbClr val="404040"/>
                </a:solidFill>
                <a:latin typeface="Calibri"/>
              </a:rPr>
              <a:t>This is observational data, not an experiment, so we cannot say Mathematics is harder or that living in an urban area causes higher grades</a:t>
            </a:r>
            <a:endParaRPr/>
          </a:p>
          <a:p>
            <a:pPr indent="-228600" lvl="1" marL="68580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1F3A5F"/>
              </a:buClr>
              <a:buSzPct val="100000"/>
              <a:buFont typeface="Arial"/>
              <a:buChar char="–"/>
            </a:pPr>
            <a:r>
              <a:rPr lang="en" sz="1500">
                <a:solidFill>
                  <a:srgbClr val="404040"/>
                </a:solidFill>
                <a:latin typeface="Calibri"/>
              </a:rPr>
              <a:t>Other factors, such as family income or parental education, may explain these differences</a:t>
            </a:r>
            <a:endParaRPr/>
          </a:p>
        </p:txBody>
      </p:sp>
      <p:sp>
        <p:nvSpPr>
          <p:cNvPr id="251" name="TextBox 250"/>
          <p:cNvSpPr txBox="1"/>
          <p:nvPr/>
        </p:nvSpPr>
        <p:spPr>
          <a:xfrm>
            <a:off x="402336" y="4736592"/>
            <a:ext cx="5486400" cy="274320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l"/>
            <a:r>
              <a:rPr sz="900">
                <a:solidFill>
                  <a:srgbClr val="5F6670"/>
                </a:solidFill>
                <a:latin typeface="Calibri"/>
              </a:rPr>
              <a:t>DATA 602  |  Student Academic Performance</a:t>
            </a:r>
          </a:p>
        </p:txBody>
      </p:sp>
      <p:sp>
        <p:nvSpPr>
          <p:cNvPr id="252" name="TextBox 251"/>
          <p:cNvSpPr txBox="1"/>
          <p:nvPr/>
        </p:nvSpPr>
        <p:spPr>
          <a:xfrm>
            <a:off x="7827264" y="4736592"/>
            <a:ext cx="914400" cy="274320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r"/>
            <a:r>
              <a:rPr sz="900">
                <a:solidFill>
                  <a:srgbClr val="5F6670"/>
                </a:solidFill>
                <a:latin typeface="Calibr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49"/>
          <p:cNvSpPr txBox="1"/>
          <p:nvPr>
            <p:ph type="title"/>
          </p:nvPr>
        </p:nvSpPr>
        <p:spPr>
          <a:xfrm>
            <a:off x="310896" y="274320"/>
            <a:ext cx="852220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 sz="2400" b="1">
                <a:solidFill>
                  <a:srgbClr val="1F3A5F"/>
                </a:solidFill>
                <a:latin typeface="Calibri"/>
              </a:rPr>
              <a:t>Limitations</a:t>
            </a:r>
            <a:endParaRPr/>
          </a:p>
        </p:txBody>
      </p:sp>
      <p:sp>
        <p:nvSpPr>
          <p:cNvPr id="256" name="Google Shape;256;p49"/>
          <p:cNvSpPr txBox="1"/>
          <p:nvPr>
            <p:ph idx="1" type="body"/>
          </p:nvPr>
        </p:nvSpPr>
        <p:spPr>
          <a:xfrm>
            <a:off x="310896" y="1005840"/>
            <a:ext cx="8522208" cy="36118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3429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3A5F"/>
              </a:buClr>
              <a:buSzPct val="100000"/>
              <a:buFont typeface="Arial"/>
              <a:buChar char="•"/>
            </a:pPr>
            <a:r>
              <a:rPr b="1" lang="en" sz="1500">
                <a:solidFill>
                  <a:srgbClr val="262626"/>
                </a:solidFill>
                <a:latin typeface="Calibri"/>
              </a:rPr>
              <a:t>Math grades of 0 were not removed</a:t>
            </a:r>
            <a:endParaRPr/>
          </a:p>
          <a:p>
            <a:pPr indent="-228600" lvl="1" marL="68580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1F3A5F"/>
              </a:buClr>
              <a:buSzPct val="100000"/>
              <a:buFont typeface="Arial"/>
              <a:buChar char="–"/>
            </a:pPr>
            <a:r>
              <a:rPr lang="en" sz="1400">
                <a:solidFill>
                  <a:srgbClr val="404040"/>
                </a:solidFill>
                <a:latin typeface="Calibri"/>
              </a:rPr>
              <a:t>These students most likely missed the final exam; a difference such as 13 − 0 = +13 may inflate the average of 2.13</a:t>
            </a:r>
            <a:endParaRPr/>
          </a:p>
          <a:p>
            <a:pPr indent="-228600" lvl="0" marL="342900" rtl="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rgbClr val="1F3A5F"/>
              </a:buClr>
              <a:buSzPct val="100000"/>
              <a:buFont typeface="Arial"/>
              <a:buChar char="•"/>
            </a:pPr>
            <a:r>
              <a:rPr b="1" lang="en" sz="1500">
                <a:solidFill>
                  <a:srgbClr val="262626"/>
                </a:solidFill>
                <a:latin typeface="Calibri"/>
              </a:rPr>
              <a:t>Urban students may simply be stronger students, or rural students may simply be stronger students</a:t>
            </a:r>
            <a:endParaRPr/>
          </a:p>
          <a:p>
            <a:pPr indent="-228600" lvl="1" marL="68580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1F3A5F"/>
              </a:buClr>
              <a:buSzPct val="100000"/>
              <a:buFont typeface="Arial"/>
              <a:buChar char="–"/>
            </a:pPr>
            <a:r>
              <a:rPr lang="en" sz="1400">
                <a:solidFill>
                  <a:srgbClr val="404040"/>
                </a:solidFill>
                <a:latin typeface="Calibri"/>
              </a:rPr>
              <a:t>Method 2 compares different students, so higher urban grades may reflect stronger students rather than where they live</a:t>
            </a:r>
            <a:endParaRPr/>
          </a:p>
          <a:p>
            <a:pPr indent="-228600" lvl="0" marL="342900" rtl="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rgbClr val="1F3A5F"/>
              </a:buClr>
              <a:buSzPct val="100000"/>
              <a:buFont typeface="Arial"/>
              <a:buChar char="•"/>
            </a:pPr>
            <a:r>
              <a:rPr b="1" lang="en" sz="1500">
                <a:solidFill>
                  <a:srgbClr val="262626"/>
                </a:solidFill>
                <a:latin typeface="Calibri"/>
              </a:rPr>
              <a:t>Students were matched by background details, not a student ID</a:t>
            </a:r>
            <a:endParaRPr/>
          </a:p>
          <a:p>
            <a:pPr indent="-228600" lvl="1" marL="68580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1F3A5F"/>
              </a:buClr>
              <a:buSzPct val="100000"/>
              <a:buFont typeface="Arial"/>
              <a:buChar char="–"/>
            </a:pPr>
            <a:r>
              <a:rPr lang="en" sz="1400">
                <a:solidFill>
                  <a:srgbClr val="404040"/>
                </a:solidFill>
                <a:latin typeface="Calibri"/>
              </a:rPr>
              <a:t>Two students with identical details could be mismatched, so a pair may not represent the same student</a:t>
            </a:r>
            <a:endParaRPr/>
          </a:p>
        </p:txBody>
      </p:sp>
      <p:sp>
        <p:nvSpPr>
          <p:cNvPr id="257" name="TextBox 256"/>
          <p:cNvSpPr txBox="1"/>
          <p:nvPr/>
        </p:nvSpPr>
        <p:spPr>
          <a:xfrm>
            <a:off x="402336" y="4736592"/>
            <a:ext cx="5486400" cy="274320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l"/>
            <a:r>
              <a:rPr sz="900">
                <a:solidFill>
                  <a:srgbClr val="5F6670"/>
                </a:solidFill>
                <a:latin typeface="Calibri"/>
              </a:rPr>
              <a:t>DATA 602  |  Student Academic Performance</a:t>
            </a:r>
          </a:p>
        </p:txBody>
      </p:sp>
      <p:sp>
        <p:nvSpPr>
          <p:cNvPr id="258" name="TextBox 257"/>
          <p:cNvSpPr txBox="1"/>
          <p:nvPr/>
        </p:nvSpPr>
        <p:spPr>
          <a:xfrm>
            <a:off x="7827264" y="4736592"/>
            <a:ext cx="914400" cy="274320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r"/>
            <a:r>
              <a:rPr sz="900">
                <a:solidFill>
                  <a:srgbClr val="5F6670"/>
                </a:solidFill>
                <a:latin typeface="Calibr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50"/>
          <p:cNvSpPr txBox="1"/>
          <p:nvPr>
            <p:ph type="title"/>
          </p:nvPr>
        </p:nvSpPr>
        <p:spPr>
          <a:xfrm>
            <a:off x="457200" y="2011680"/>
            <a:ext cx="8229600" cy="9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3600" b="1">
                <a:solidFill>
                  <a:srgbClr val="1F3A5F"/>
                </a:solidFill>
                <a:latin typeface="Calibri"/>
              </a:rPr>
              <a:t>Questions?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51"/>
          <p:cNvSpPr txBox="1"/>
          <p:nvPr>
            <p:ph type="title"/>
          </p:nvPr>
        </p:nvSpPr>
        <p:spPr>
          <a:xfrm>
            <a:off x="310896" y="274320"/>
            <a:ext cx="8522208" cy="64008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rgbClr val="1F3A5F"/>
                </a:solidFill>
                <a:latin typeface="Calibri"/>
              </a:rPr>
              <a:t>References</a:t>
            </a:r>
            <a:endParaRPr/>
          </a:p>
        </p:txBody>
      </p:sp>
      <p:sp>
        <p:nvSpPr>
          <p:cNvPr id="267" name="Google Shape;267;p51"/>
          <p:cNvSpPr txBox="1"/>
          <p:nvPr>
            <p:ph idx="1" type="body"/>
          </p:nvPr>
        </p:nvSpPr>
        <p:spPr>
          <a:xfrm>
            <a:off x="310896" y="1005840"/>
            <a:ext cx="8522208" cy="361188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u="sng" sz="1600">
                <a:solidFill>
                  <a:schemeClr val="hlink"/>
                </a:solidFill>
                <a:latin typeface="Calibri"/>
                <a:hlinkClick r:id="rId3"/>
              </a:rPr>
              <a:t>https://archive.ics.uci.edu/dataset/320/student+performance</a:t>
            </a:r>
            <a:endParaRPr/>
          </a:p>
        </p:txBody>
      </p:sp>
      <p:sp>
        <p:nvSpPr>
          <p:cNvPr id="268" name="TextBox 267"/>
          <p:cNvSpPr txBox="1"/>
          <p:nvPr/>
        </p:nvSpPr>
        <p:spPr>
          <a:xfrm>
            <a:off x="402336" y="4736592"/>
            <a:ext cx="5486400" cy="274320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l"/>
            <a:r>
              <a:rPr sz="900">
                <a:solidFill>
                  <a:srgbClr val="5F6670"/>
                </a:solidFill>
                <a:latin typeface="Calibri"/>
              </a:rPr>
              <a:t>DATA 602  |  Student Academic Performance</a:t>
            </a:r>
          </a:p>
        </p:txBody>
      </p:sp>
      <p:sp>
        <p:nvSpPr>
          <p:cNvPr id="269" name="TextBox 268"/>
          <p:cNvSpPr txBox="1"/>
          <p:nvPr/>
        </p:nvSpPr>
        <p:spPr>
          <a:xfrm>
            <a:off x="7827264" y="4736592"/>
            <a:ext cx="914400" cy="274320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r"/>
            <a:r>
              <a:rPr sz="900">
                <a:solidFill>
                  <a:srgbClr val="5F6670"/>
                </a:solidFill>
                <a:latin typeface="Calibri"/>
              </a:rPr>
              <a:t>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